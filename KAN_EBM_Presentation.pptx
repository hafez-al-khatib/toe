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PSNR (dB) vs Inference Steps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KAN-EBM (ours)</c:v>
                </c:pt>
              </c:strCache>
            </c:strRef>
          </c:tx>
          <c:spPr>
            <a:solidFill>
              <a:srgbClr val="3B5BDB"/>
            </a:solidFill>
            <a:ln w="38100" cap="flat">
              <a:solidFill>
                <a:srgbClr val="3B5B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5BDB"/>
              </a:solidFill>
              <a:ln w="9525" cap="flat">
                <a:solidFill>
                  <a:srgbClr val="3B5B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K=0</c:v>
                  </c:pt>
                  <c:pt idx="1">
                    <c:v>K=1</c:v>
                  </c:pt>
                  <c:pt idx="2">
                    <c:v>K=2</c:v>
                  </c:pt>
                  <c:pt idx="3">
                    <c:v>K=5</c:v>
                  </c:pt>
                  <c:pt idx="4">
                    <c:v>K=10</c:v>
                  </c:pt>
                  <c:pt idx="5">
                    <c:v>K=20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22.65</c:v>
                </c:pt>
                <c:pt idx="1">
                  <c:v>22.91</c:v>
                </c:pt>
                <c:pt idx="2">
                  <c:v>23.16</c:v>
                </c:pt>
                <c:pt idx="3">
                  <c:v>23.91</c:v>
                </c:pt>
                <c:pt idx="4">
                  <c:v>25.09</c:v>
                </c:pt>
                <c:pt idx="5">
                  <c:v>27.17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FFN-DSM (1.3M params, no iteration)</c:v>
                </c:pt>
              </c:strCache>
            </c:strRef>
          </c:tx>
          <c:spPr>
            <a:solidFill>
              <a:srgbClr val="F59F00"/>
            </a:solidFill>
            <a:ln w="38100" cap="flat">
              <a:solidFill>
                <a:srgbClr val="F59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F00"/>
              </a:solidFill>
              <a:ln w="9525" cap="flat">
                <a:solidFill>
                  <a:srgbClr val="F59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K=0</c:v>
                  </c:pt>
                  <c:pt idx="1">
                    <c:v>K=1</c:v>
                  </c:pt>
                  <c:pt idx="2">
                    <c:v>K=2</c:v>
                  </c:pt>
                  <c:pt idx="3">
                    <c:v>K=5</c:v>
                  </c:pt>
                  <c:pt idx="4">
                    <c:v>K=10</c:v>
                  </c:pt>
                  <c:pt idx="5">
                    <c:v>K=20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24.06</c:v>
                </c:pt>
                <c:pt idx="1">
                  <c:v>24.06</c:v>
                </c:pt>
                <c:pt idx="2">
                  <c:v>24.06</c:v>
                </c:pt>
                <c:pt idx="3">
                  <c:v>24.06</c:v>
                </c:pt>
                <c:pt idx="4">
                  <c:v>24.06</c:v>
                </c:pt>
                <c:pt idx="5">
                  <c:v>24.06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MLP-EBM (diverges)</c:v>
                </c:pt>
              </c:strCache>
            </c:strRef>
          </c:tx>
          <c:spPr>
            <a:solidFill>
              <a:srgbClr val="E64980"/>
            </a:solidFill>
            <a:ln w="38100" cap="flat">
              <a:solidFill>
                <a:srgbClr val="E649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4980"/>
              </a:solidFill>
              <a:ln w="9525" cap="flat">
                <a:solidFill>
                  <a:srgbClr val="E649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K=0</c:v>
                  </c:pt>
                  <c:pt idx="1">
                    <c:v>K=1</c:v>
                  </c:pt>
                  <c:pt idx="2">
                    <c:v>K=2</c:v>
                  </c:pt>
                  <c:pt idx="3">
                    <c:v>K=5</c:v>
                  </c:pt>
                  <c:pt idx="4">
                    <c:v>K=10</c:v>
                  </c:pt>
                  <c:pt idx="5">
                    <c:v>K=20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22.65</c:v>
                </c:pt>
                <c:pt idx="1">
                  <c:v>21.36</c:v>
                </c:pt>
                <c:pt idx="2">
                  <c:v>21.33</c:v>
                </c:pt>
                <c:pt idx="3">
                  <c:v>20.76</c:v>
                </c:pt>
                <c:pt idx="4">
                  <c:v>19.9</c:v>
                </c:pt>
                <c:pt idx="5">
                  <c:v>17.71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"/>
          <c:min val="1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PSNR (dB) vs K at Matched Parameters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KAN-EBM (ours)</c:v>
                </c:pt>
              </c:strCache>
            </c:strRef>
          </c:tx>
          <c:spPr>
            <a:solidFill>
              <a:srgbClr val="3B5BDB"/>
            </a:solidFill>
            <a:ln w="38100" cap="flat">
              <a:solidFill>
                <a:srgbClr val="3B5B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5BDB"/>
              </a:solidFill>
              <a:ln w="9525" cap="flat">
                <a:solidFill>
                  <a:srgbClr val="3B5B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K=5</c:v>
                  </c:pt>
                  <c:pt idx="3">
                    <c:v>K=10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22.93</c:v>
                </c:pt>
                <c:pt idx="1">
                  <c:v>23.19</c:v>
                </c:pt>
                <c:pt idx="2">
                  <c:v>23.97</c:v>
                </c:pt>
                <c:pt idx="3">
                  <c:v>25.19</c:v>
                </c:pt>
                <c:pt idx="4">
                  <c:v>27.31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DDPM-score (explicit score network)</c:v>
                </c:pt>
              </c:strCache>
            </c:strRef>
          </c:tx>
          <c:spPr>
            <a:solidFill>
              <a:srgbClr val="F59F00"/>
            </a:solidFill>
            <a:ln w="38100" cap="flat">
              <a:solidFill>
                <a:srgbClr val="F59F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F00"/>
              </a:solidFill>
              <a:ln w="9525" cap="flat">
                <a:solidFill>
                  <a:srgbClr val="F59F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K=5</c:v>
                  </c:pt>
                  <c:pt idx="3">
                    <c:v>K=10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22.66</c:v>
                </c:pt>
                <c:pt idx="1">
                  <c:v>22.67</c:v>
                </c:pt>
                <c:pt idx="2">
                  <c:v>22.7</c:v>
                </c:pt>
                <c:pt idx="3">
                  <c:v>22.74</c:v>
                </c:pt>
                <c:pt idx="4">
                  <c:v>22.81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DEQ (fixed-point iteration)</c:v>
                </c:pt>
              </c:strCache>
            </c:strRef>
          </c:tx>
          <c:spPr>
            <a:solidFill>
              <a:srgbClr val="7048E8"/>
            </a:solidFill>
            <a:ln w="38100" cap="flat">
              <a:solidFill>
                <a:srgbClr val="7048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48E8"/>
              </a:solidFill>
              <a:ln w="9525" cap="flat">
                <a:solidFill>
                  <a:srgbClr val="704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K=1</c:v>
                  </c:pt>
                  <c:pt idx="1">
                    <c:v>K=2</c:v>
                  </c:pt>
                  <c:pt idx="2">
                    <c:v>K=5</c:v>
                  </c:pt>
                  <c:pt idx="3">
                    <c:v>K=10</c:v>
                  </c:pt>
                  <c:pt idx="4">
                    <c:v>K=20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22.98</c:v>
                </c:pt>
                <c:pt idx="1">
                  <c:v>22.99</c:v>
                </c:pt>
                <c:pt idx="2">
                  <c:v>23.02</c:v>
                </c:pt>
                <c:pt idx="3">
                  <c:v>23.01</c:v>
                </c:pt>
                <c:pt idx="4">
                  <c:v>23.01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2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KAN-EBM PSNR on CBSD68 (dB)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K=1</c:v>
                </c:pt>
              </c:strCache>
            </c:strRef>
          </c:tx>
          <c:spPr>
            <a:solidFill>
              <a:srgbClr val="C7D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σ=15</c:v>
                  </c:pt>
                  <c:pt idx="1">
                    <c:v>σ=25</c:v>
                  </c:pt>
                  <c:pt idx="2">
                    <c:v>σ=50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24.82</c:v>
                </c:pt>
                <c:pt idx="1">
                  <c:v>20.43</c:v>
                </c:pt>
                <c:pt idx="2">
                  <c:v>14.87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K=10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σ=15</c:v>
                  </c:pt>
                  <c:pt idx="1">
                    <c:v>σ=25</c:v>
                  </c:pt>
                  <c:pt idx="2">
                    <c:v>σ=50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26.45</c:v>
                </c:pt>
                <c:pt idx="1">
                  <c:v>21.57</c:v>
                </c:pt>
                <c:pt idx="2">
                  <c:v>15.76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K=20</c:v>
                </c:pt>
              </c:strCache>
            </c:strRef>
          </c:tx>
          <c:spPr>
            <a:solidFill>
              <a:srgbClr val="1A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σ=15</c:v>
                  </c:pt>
                  <c:pt idx="1">
                    <c:v>σ=25</c:v>
                  </c:pt>
                  <c:pt idx="2">
                    <c:v>σ=50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28.14</c:v>
                </c:pt>
                <c:pt idx="1">
                  <c:v>22.82</c:v>
                </c:pt>
                <c:pt idx="2">
                  <c:v>16.74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B5BDB">
              <a:alpha val="7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6583680" cy="571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  ·  AUB ECE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KAN-Parameterized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Controllable Test-Time Compute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gain · K=1 → 20 · 31K params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&amp; Computer Engineering  ·  American University of Beirut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20840" y="548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20840" y="1005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2286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084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dB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0840" y="35204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K-Scaling Gain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40233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43891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cos-sim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6858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051560"/>
            <a:ext cx="566928" cy="59436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51560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0424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Background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350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EBMs? Why KANs? Why test-time scaling?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01368"/>
            <a:ext cx="54864" cy="68580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" y="1847088"/>
            <a:ext cx="566928" cy="594360"/>
          </a:xfrm>
          <a:prstGeom prst="rect">
            <a:avLst/>
          </a:prstGeom>
          <a:solidFill>
            <a:srgbClr val="7048E8">
              <a:alpha val="15000"/>
            </a:srgbClr>
          </a:solidFill>
          <a:ln w="12700">
            <a:solidFill>
              <a:srgbClr val="7048E8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1847088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18379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1305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 bank · precision weighting · KAN energy · DSM training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96896"/>
            <a:ext cx="54864" cy="6858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2642616"/>
            <a:ext cx="566928" cy="594360"/>
          </a:xfrm>
          <a:prstGeom prst="rect">
            <a:avLst/>
          </a:prstGeom>
          <a:solidFill>
            <a:srgbClr val="0CA678">
              <a:alpha val="15000"/>
            </a:srgbClr>
          </a:solidFill>
          <a:ln w="12700">
            <a:solidFill>
              <a:srgbClr val="0CA678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642616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26334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9260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scaling result · ablations · baselines · natural images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92424"/>
            <a:ext cx="54864" cy="68580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3438144"/>
            <a:ext cx="566928" cy="594360"/>
          </a:xfrm>
          <a:prstGeom prst="rect">
            <a:avLst/>
          </a:prstGeom>
          <a:solidFill>
            <a:srgbClr val="E64980">
              <a:alpha val="15000"/>
            </a:srgbClr>
          </a:solidFill>
          <a:ln w="12700">
            <a:solidFill>
              <a:srgbClr val="E64980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438144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97280" y="3429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72160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 · spline activations · energy landscape · score alignment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8795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87952"/>
            <a:ext cx="54864" cy="6858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4233672"/>
            <a:ext cx="566928" cy="59436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>
                <a:alpha val="1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233672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97280" y="4224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51713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Allen-Cahn = Score = Predictive Coding · 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48F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Background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energy-based inference and learnable activations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Fixed-Compute Bottleneck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GPU-hours,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2057400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96012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05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50876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input.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057400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96012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498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05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Better?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150876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bigger model.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everything.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 ground.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4930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Models offer a principled escape: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130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scalar energy E(x). Inference = gradient descent on E. More steps → better results.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33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retraining. No architecture changes. Just more compute.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Models (EBMs)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384048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EBM 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∝ exp(−E(x))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 = argmin E(x)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step: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63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x_{t+1} = x_t − η ∇E(x_t)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steps K: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8770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 reconstruction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4069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14400"/>
            <a:ext cx="54864" cy="384048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987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KANs for E(x)?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292608" cy="292608"/>
          </a:xfrm>
          <a:prstGeom prst="rect">
            <a:avLst/>
          </a:prstGeom>
          <a:solidFill>
            <a:srgbClr val="7048E8">
              <a:alpha val="80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85232" y="15087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energies fail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85232" y="181051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activations (ReLU/GELU) cannot represent the sharp valleys and smooth gradients that image priors require. Gradient descent diverges.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2532888"/>
            <a:ext cx="292608" cy="292608"/>
          </a:xfrm>
          <a:prstGeom prst="rect">
            <a:avLst/>
          </a:prstGeom>
          <a:solidFill>
            <a:srgbClr val="7048E8">
              <a:alpha val="80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532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253288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activations adapt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85232" y="2834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B-splines on every edge carve the right energy landscape: deep minima near data modes, smooth gradients everywhere else.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3557016"/>
            <a:ext cx="292608" cy="292608"/>
          </a:xfrm>
          <a:prstGeom prst="rect">
            <a:avLst/>
          </a:prstGeom>
          <a:solidFill>
            <a:srgbClr val="7048E8">
              <a:alpha val="80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57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85232" y="3557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38587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φ_{ij}(t) is a visible 1D function. You can see what the model learned about each spatial feature.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Kolmogorov-Arnold Networks (KANs)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0D1B4B">
              <a:alpha val="12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Kolmogorov-Arnold Theorem:  Every continuous multivariate function can be written as a composition of univariate functions.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0690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498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4069080" cy="45720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activation per node (ReLU, GELU)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8529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y_j = σ(Σ w_{ij} x_i)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741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Nonlinearity is fixed at 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953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reshape energy landscape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0690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737360"/>
            <a:ext cx="4069080" cy="45720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373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B-spline per edge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8529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y_j = Σ φ_{ij}(x_i)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3741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φ_{ij} adapts to the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8953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carve any energy shape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48F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Factored design: spatial filter bank × KAN energy density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Architecture: Four-Stage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280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280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C×H×W image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1618488"/>
            <a:ext cx="1828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960120"/>
            <a:ext cx="1280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737360" y="960120"/>
            <a:ext cx="1280160" cy="3657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5×5 conv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filters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17520" y="1618488"/>
            <a:ext cx="1828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60120"/>
            <a:ext cx="1280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960120"/>
            <a:ext cx="1280160" cy="36576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Π_j = softplus(log Π_j)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attention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80560" y="1618488"/>
            <a:ext cx="1828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960120"/>
            <a:ext cx="1280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1280160" cy="36576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[−1, 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grid range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1618488"/>
            <a:ext cx="1828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960120"/>
            <a:ext cx="128016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498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60120"/>
            <a:ext cx="1280160" cy="36576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[16, 32, 1]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G=5, order p=3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06640" y="1618488"/>
            <a:ext cx="18288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960120"/>
            <a:ext cx="1280160" cy="1417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9520" y="960120"/>
            <a:ext cx="1280160" cy="365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960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E(ũ)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1371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x_{t+1} = x_t − η∇E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514600"/>
            <a:ext cx="2377440" cy="502920"/>
          </a:xfrm>
          <a:prstGeom prst="rect">
            <a:avLst/>
          </a:prstGeom>
          <a:solidFill>
            <a:srgbClr val="3B5BDB">
              <a:alpha val="15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params: 31,782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2514600"/>
            <a:ext cx="3108960" cy="502920"/>
          </a:xfrm>
          <a:prstGeom prst="rect">
            <a:avLst/>
          </a:prstGeom>
          <a:solidFill>
            <a:srgbClr val="E64980">
              <a:alpha val="12000"/>
            </a:srgbClr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74× fewer params than raw KAN — same K=20 PSNR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154680"/>
            <a:ext cx="8503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218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5661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features: 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0312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Conv(u ; W)  →  (B, CF, H, W)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5661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weighting: 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f̂_j = Π_j · f_j   where   Π_j = softplus(log Π_j)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977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squash: 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0312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f̃ = tanh(f̂)   →  f̃ ∈ [−1, 1]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977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9224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E(u) = Σ_{h,w} KAN(f̃_{·,h,w})   →  scalar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3891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 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103120" y="4389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u_{t+1} = u_t − η₀·0.97^t · clamp(∇E(u_t), −1, 1)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Denoising Score Matching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1: KAN-EBM Training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𝒟, noise σ, lr α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51560" y="18196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← x + σε,  ε ~ 𝒩(0, I)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51560" y="21579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leaf gradients on x̃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9631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2496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E_θ(x̃)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8346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1560" y="2834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← −∇_{x̃} E_θ  [create_graph=True]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729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31729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x̂ ← x̃ + σ² s      ← Tweedie estimate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51129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1560" y="35112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 = ‖x̂ − x‖²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84962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1560" y="38496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Back-propagate through ∇E  (2nd-order)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18795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" y="41879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gradients, step AdamW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60120"/>
            <a:ext cx="54864" cy="384048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05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DSM Works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481328"/>
            <a:ext cx="274320" cy="274320"/>
          </a:xfrm>
          <a:prstGeom prst="rect">
            <a:avLst/>
          </a:prstGeom>
          <a:solidFill>
            <a:srgbClr val="0CA678">
              <a:alpha val="8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30368" y="1481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trains ∇E to be a denoising direction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0368" y="17647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−∇E(x̃) is trained to point from x̃ toward x. This is precisely the direction gradient descent needs at inference.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304288"/>
            <a:ext cx="274320" cy="274320"/>
          </a:xfrm>
          <a:prstGeom prst="rect">
            <a:avLst/>
          </a:prstGeom>
          <a:solidFill>
            <a:srgbClr val="0CA678">
              <a:alpha val="8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0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create_graph=True is critical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2587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Hessian of E enters the loss via ∂ℒ/∂θ. Without it, parameters that affect ∇E but not E directly receive zero gradient.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127248"/>
            <a:ext cx="274320" cy="274320"/>
          </a:xfrm>
          <a:prstGeom prst="rect">
            <a:avLst/>
          </a:prstGeom>
          <a:solidFill>
            <a:srgbClr val="0CA678">
              <a:alpha val="8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MCMC, no partition function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30368" y="34107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is tractable: no contrastive divergence, no normalization constant. Just MSE on noisy images.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3950208"/>
            <a:ext cx="274320" cy="274320"/>
          </a:xfrm>
          <a:prstGeom prst="rect">
            <a:avLst/>
          </a:prstGeom>
          <a:solidFill>
            <a:srgbClr val="0CA678">
              <a:alpha val="85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30368" y="39502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epochs · AdamW · σ=0.2 · batch 128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30368" y="42336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run. Cosine LR decay. Gradient clipping to 1.0. AMP on GPU.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48F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 · ablations · natural images · baseline comparisons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Monotonic PSNR Scaling with 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denoising · σ = 0.2 · 31K parameters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143000"/>
            <a:ext cx="2880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179576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95160" y="121615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gain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→ K=20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075688"/>
            <a:ext cx="2880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89320" y="2112264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74×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95160" y="214884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params than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 KAN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3008376"/>
            <a:ext cx="2880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89320" y="3044952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95160" y="3081528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FFN-DSM gain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 regardless of K)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941064"/>
            <a:ext cx="2880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498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89320" y="3977640"/>
            <a:ext cx="960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dB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95160" y="4014216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MLP-EBM degradation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K=20 (diverges)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Trajectory: Coarse-to-Fine Refinement</a:t>
            </a:r>
            <a:endParaRPr lang="en-US" sz="2200" dirty="0"/>
          </a:p>
        </p:txBody>
      </p:sp>
      <p:pic>
        <p:nvPicPr>
          <p:cNvPr id="4" name="Image 0" descr="/sessions/confident-tender-hawking/mnt/ToE/results/interpretability/fig6_inference_trajec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06908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decays as η₀·0.97^t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370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steps: coarse corrections. Later steps: fine detail refinement.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200400" y="406908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clamped to [−1, 1]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91840" y="4370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runaway gradient descent at any step.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0" y="4069080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41148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needed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26480" y="43708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K. Quality is a budget dial.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Study: What Drives Test-Time Scaling?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denoising · σ = 0.2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051560"/>
                <a:gridCol w="640080"/>
                <a:gridCol w="640080"/>
                <a:gridCol w="640080"/>
                <a:gridCol w="64008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KAN-EBM-full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31,782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A6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MLP-EBM-filtered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49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KAN-EBM-raw (no filters)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UNSTABLE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FFN-DSM (strong baseline)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1,329,424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49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 KAN-EBM-8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26,454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A6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 KAN-EBM-32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42,438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A6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169664"/>
            <a:ext cx="2743200" cy="658368"/>
          </a:xfrm>
          <a:prstGeom prst="rect">
            <a:avLst/>
          </a:prstGeom>
          <a:solidFill>
            <a:srgbClr val="3B5BDB">
              <a:alpha val="12000"/>
            </a:srgbClr>
          </a:solidFill>
          <a:ln w="19050">
            <a:solidFill>
              <a:srgbClr val="3B5B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20624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→ MLP (B): Removes scaling entirely. KAN activations are necessary.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27832" y="4169664"/>
            <a:ext cx="2743200" cy="658368"/>
          </a:xfrm>
          <a:prstGeom prst="rect">
            <a:avLst/>
          </a:prstGeom>
          <a:solidFill>
            <a:srgbClr val="7048E8">
              <a:alpha val="12000"/>
            </a:srgbClr>
          </a:solidFill>
          <a:ln w="19050">
            <a:solidFill>
              <a:srgbClr val="704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420624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bank (C): Removing it costs 74× params with no K=20 gain.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35624" y="4169664"/>
            <a:ext cx="2743200" cy="658368"/>
          </a:xfrm>
          <a:prstGeom prst="rect">
            <a:avLst/>
          </a:prstGeom>
          <a:solidFill>
            <a:srgbClr val="0CA678">
              <a:alpha val="12000"/>
            </a:srgbClr>
          </a:solidFill>
          <a:ln w="19050">
            <a:solidFill>
              <a:srgbClr val="0CA67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27064" y="4206240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count (E/F): 8 vs 32 filters = 0.11 dB range. Very robust.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KAN-EBM vs DDPM-Score vs DEQ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at matched parameter count (~31–50K) · MNIST σ=0.2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170432"/>
            <a:ext cx="2880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1216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490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 dB K-scaling gain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893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energy gradient descent on a well-shaped KAN landscape continues improving indefinitely.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97880" y="2377440"/>
            <a:ext cx="2880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8932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DDPM-score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2697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dB K-scaling gain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89320" y="2944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score network without energy structure; Langevin dynamics plateau quickly at matched size.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97880" y="3584448"/>
            <a:ext cx="288036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39044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 dB K-scaling gain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41513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iteration converges in 1–2 steps by design. Additional K provides no benefit.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Image Denoising: CBSD68 &amp; Set12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MNIST · evaluated zero-shot on natural images · Y-channel protocol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14300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143000"/>
            <a:ext cx="54864" cy="329184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42432" y="1207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42432" y="16642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+3.3 dB at σ=15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42432" y="18836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K=1→20 gain on CBSD68. Closes gap toward BM3D.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42432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+2.4 dB at σ=25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42432" y="24140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scaling across all noise levels.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42432" y="272491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Zero-shot transfer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42432" y="29443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MNIST, tested on natural images. Scaling generalizes.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42432" y="325526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FFN-DSM is flat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42432" y="3474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 dB regardless of K. KAN-EBM surpasses at K≥10.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42432" y="378561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Gap to DnCNN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742432" y="4005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DnCNN is specifically trained on natural images at matched σ. KAN-EBM demonstrates scaling, not SOTA PSNR.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48F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KAN-EBM actually learn?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Filter Bank: Spontaneous V1-like Structure</a:t>
            </a:r>
            <a:endParaRPr lang="en-US" sz="2200" dirty="0"/>
          </a:p>
        </p:txBody>
      </p:sp>
      <p:pic>
        <p:nvPicPr>
          <p:cNvPr id="4" name="Image 0" descr="/sessions/confident-tender-hawking/mnt/ToE/results/interpretability/fig2_filter_ban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54864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9144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914400"/>
            <a:ext cx="54864" cy="32918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9632" y="987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Properties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99632" y="1444752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Gabor-like patterns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99632" y="168249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edge detectors at multiple angles — without ever being told to learn edges.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99632" y="213969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Center-surround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99632" y="237744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On/off-center filters analogous to retinal ganglion cells and LGN neurons.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99632" y="2834640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Diverse orientations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99632" y="307238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span 0°, 45°, 90°, 135° — full orientation coverage with only 16 filters.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99632" y="3529584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Joint optimization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99632" y="376732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trained together with the KAN energy, not separately frozen.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" y="4315968"/>
            <a:ext cx="8412480" cy="512064"/>
          </a:xfrm>
          <a:prstGeom prst="rect">
            <a:avLst/>
          </a:prstGeom>
          <a:solidFill>
            <a:srgbClr val="0D1B4B">
              <a:alpha val="1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35254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visual cortex (V1) simple cells also exhibit oriented Gabor-like receptive fields — suggesting KAN-EBM rediscovers a biologically meaningful feature basis.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Landscape &amp; KAN Spline Activations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Landscape (2D PCA slice)</a:t>
            </a:r>
            <a:endParaRPr lang="en-US" sz="1100" dirty="0"/>
          </a:p>
        </p:txBody>
      </p:sp>
      <p:pic>
        <p:nvPicPr>
          <p:cNvPr id="5" name="Image 0" descr="/sessions/confident-tender-hawking/mnt/ToE/results/interpretability/fig4_energy_landscap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20624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480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low energy (attractor basins). Noisy inputs → gradient descent → clean manifold.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Spline Activations φ_{ij}(t)</a:t>
            </a:r>
            <a:endParaRPr lang="en-US" sz="1100" dirty="0"/>
          </a:p>
        </p:txBody>
      </p:sp>
      <p:pic>
        <p:nvPicPr>
          <p:cNvPr id="8" name="Image 1" descr="/sessions/confident-tender-hawking/mnt/ToE/results/interpretability/fig3_spline_function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88720"/>
            <a:ext cx="4023360" cy="324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4480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shapes per edge: monotone, peaked, oscillatory. Full grid covered after tanh squash.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26280" y="868680"/>
            <a:ext cx="45720" cy="397764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Weights &amp; Energy Convergence During Inference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Precision Weights Π_j</a:t>
            </a:r>
            <a:endParaRPr lang="en-US" sz="1100" dirty="0"/>
          </a:p>
        </p:txBody>
      </p:sp>
      <p:pic>
        <p:nvPicPr>
          <p:cNvPr id="5" name="Image 0" descr="/sessions/confident-tender-hawking/mnt/ToE/results/interpretability/fig7_precision_weight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42062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3931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with high Π dominate the energy. The model learns to pay attention to specific spatial features (oriented edges) over others — analogous to precision-weighted prediction errors in predictive coding.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5488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E(u_t) During Inference</a:t>
            </a:r>
            <a:endParaRPr lang="en-US" sz="1100" dirty="0"/>
          </a:p>
        </p:txBody>
      </p:sp>
      <p:pic>
        <p:nvPicPr>
          <p:cNvPr id="8" name="Image 1" descr="/sessions/confident-tender-hawking/mnt/ToE/results/interpretability/fig8_energy_convergenc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188720"/>
            <a:ext cx="402336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36393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trajectories decrease monotonically (20 test images). The decaying step size slows convergence after t≈10, consistent with settling into an energy basin. Monotonicity is not guaranteed a priori.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26280" y="868680"/>
            <a:ext cx="45720" cy="3429000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Alignment: The Model Learned a Real Gradient Field</a:t>
            </a:r>
            <a:endParaRPr lang="en-US" sz="2200" dirty="0"/>
          </a:p>
        </p:txBody>
      </p:sp>
      <p:pic>
        <p:nvPicPr>
          <p:cNvPr id="4" name="Image 0" descr="/sessions/confident-tender-hawking/mnt/ToE/results/interpretability/fig9_score_alignm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53035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54864" cy="347472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9875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16752" y="14630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Cosine similarity &gt; 0.95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16752" y="17373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training, −∇E(x̃) is closely aligned with the ground-truth denoising direction (x − x̃)/σ².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16752" y="24231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Why PSNR improves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16752" y="269748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gradient step is a reliable stride toward the clean-image manifold. High alignment = efficient gradient descent.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16752" y="3383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Not trivial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16752" y="365760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randomly initialized EBM has cosine similarity near 0. Training shaped the gradient field.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748F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Mathematical Validation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Allen-Cahn = Score Matching = Predictive Coding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Frameworks, One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Allen-Cahn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/ PDEs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411480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u̇ = −∇_u E(u)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Phase-field dynamics minimizing free energy. Used in materials science for interface evolution.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5361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874520"/>
            <a:ext cx="2331720" cy="411480"/>
          </a:xfrm>
          <a:prstGeom prst="rect">
            <a:avLst/>
          </a:prstGeom>
          <a:solidFill>
            <a:srgbClr val="7048E8">
              <a:alpha val="12000"/>
            </a:srgbClr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u̇ = ∇_u log p(u|x)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log-posterior. The foundation of diffusion models and Langevin sampling.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269748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60120"/>
            <a:ext cx="2697480" cy="50292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Minimization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5361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Neuroscience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1874520"/>
            <a:ext cx="2331720" cy="411480"/>
          </a:xfrm>
          <a:prstGeom prst="rect">
            <a:avLst/>
          </a:prstGeom>
          <a:solidFill>
            <a:srgbClr val="0CA678">
              <a:alpha val="12000"/>
            </a:srgbClr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u̇ = −∂_u ℱ_PC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3774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inference by minimizing prediction errors, weighted by precision matrices.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8056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Gaussian models: all three are identical. Cosine similarity = 1.000000 (verified numerically). KAN-EBM is the nonlinear generalization of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Validation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cos-sim: Allen-Cahn ↔ Score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cos-sim: Score ↔ PC-error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7.3×10⁸×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vs naïve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conservation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171907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free-energy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(monotone)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8412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54864" cy="21488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Integrator Comparison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2651760" cy="347472"/>
          </a:xfrm>
          <a:prstGeom prst="rect">
            <a:avLst/>
          </a:prstGeom>
          <a:solidFill>
            <a:srgbClr val="0D1B4B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906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090672"/>
            <a:ext cx="2651760" cy="347472"/>
          </a:xfrm>
          <a:prstGeom prst="rect">
            <a:avLst/>
          </a:prstGeom>
          <a:solidFill>
            <a:srgbClr val="0D1B4B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0906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|ΔH|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0" y="3090672"/>
            <a:ext cx="2651760" cy="347472"/>
          </a:xfrm>
          <a:prstGeom prst="rect">
            <a:avLst/>
          </a:prstGeom>
          <a:solidFill>
            <a:srgbClr val="0D1B4B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09067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integrator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474720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3474720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3474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conserved to within 1.4 units across all steps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5876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858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integrator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85876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858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× 10⁹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3858768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38587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diverges — Hamiltonian completely destroyed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242816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428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(naïve / symplectic)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4242816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42428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× 10⁸ ×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4242816"/>
            <a:ext cx="2651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424281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Symplectic is 730 million times more conservative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B5BDB">
              <a:alpha val="70000"/>
            </a:srgbClr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914400"/>
            <a:ext cx="3840480" cy="1417320"/>
          </a:xfrm>
          <a:prstGeom prst="rect">
            <a:avLst/>
          </a:prstGeom>
          <a:solidFill>
            <a:srgbClr val="1A2F6E"/>
          </a:solidFill>
          <a:ln w="19050">
            <a:solidFill>
              <a:srgbClr val="3B5BDB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914400"/>
            <a:ext cx="54864" cy="141732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87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987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 unlock test-time scaling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B-spline activations carve energy landscapes where gradient descent continues improving quality with every additional step. MLP energies cannot do this.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3840480" cy="1417320"/>
          </a:xfrm>
          <a:prstGeom prst="rect">
            <a:avLst/>
          </a:prstGeom>
          <a:solidFill>
            <a:srgbClr val="1A2F6E"/>
          </a:solidFill>
          <a:ln w="19050">
            <a:solidFill>
              <a:srgbClr val="704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914400"/>
            <a:ext cx="54864" cy="1417320"/>
          </a:xfrm>
          <a:prstGeom prst="rect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875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987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Factored design = efficiency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38988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filter bank (16 × 5×5) + compact KAN = 31K parameters. Same K=20 PSNR as a 74× larger raw-pixel KAN. The filter bank is the key inductive bias.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2514600"/>
            <a:ext cx="3840480" cy="1417320"/>
          </a:xfrm>
          <a:prstGeom prst="rect">
            <a:avLst/>
          </a:prstGeom>
          <a:solidFill>
            <a:srgbClr val="1A2F6E"/>
          </a:solidFill>
          <a:ln w="19050">
            <a:solidFill>
              <a:srgbClr val="0CA678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514600"/>
            <a:ext cx="54864" cy="1417320"/>
          </a:xfrm>
          <a:prstGeom prst="rect">
            <a:avLst/>
          </a:prstGeom>
          <a:solidFill>
            <a:srgbClr val="0CA678"/>
          </a:solidFill>
          <a:ln w="12700">
            <a:solidFill>
              <a:srgbClr val="0CA6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587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A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2587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frameworks unified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99008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inference is mathematically identical to Allen-Cahn dynamics, score matching, and predictive coding (cosine similarity = 1.0). A principled foundation.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514600"/>
            <a:ext cx="3840480" cy="1417320"/>
          </a:xfrm>
          <a:prstGeom prst="rect">
            <a:avLst/>
          </a:prstGeom>
          <a:solidFill>
            <a:srgbClr val="1A2F6E"/>
          </a:solidFill>
          <a:ln w="19050">
            <a:solidFill>
              <a:srgbClr val="E64980"/>
            </a:solidFill>
            <a:prstDash val="solid"/>
          </a:ln>
          <a:effectLst>
            <a:outerShdw sx="100000" sy="100000" kx="0" ky="0" algn="bl" rotWithShape="0" blurRad="101600" dist="38100" dir="8100000">
              <a:srgbClr val="0D1B4B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514600"/>
            <a:ext cx="54864" cy="1417320"/>
          </a:xfrm>
          <a:prstGeom prst="rect">
            <a:avLst/>
          </a:prstGeom>
          <a:solidFill>
            <a:srgbClr val="E64980"/>
          </a:solidFill>
          <a:ln w="12700">
            <a:solidFill>
              <a:srgbClr val="E649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5877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2587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compute budget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99008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 dB PSNR from K=1→20 on MNIST. +3.3 dB on CBSD68 zero-shot. Quality is a dial — no retraining required.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  ·  AUB ECE  ·  hafezkhatib.2002@gmail.com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A2F6E"/>
          </a:solidFill>
          <a:ln w="12700">
            <a:solidFill>
              <a:srgbClr val="1A2F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22860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· NeurIPS-format manuscript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633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experiments/ · exp_interpretability.py · exp_ablation.py · exp_diffusion_comparison.py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98094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98094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results/interpretability/ · 9 publication-ready PDFs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3284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48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32841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hafezkhatib.2002@gmail.com · AUB Dept. of ECE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KAN-EBM: Controllable Test-Time Compute</dc:title>
  <dc:subject>PptxGenJS Presentation</dc:subject>
  <dc:creator>Hafez Khatib</dc:creator>
  <cp:lastModifiedBy>Hafez Khatib</cp:lastModifiedBy>
  <cp:revision>1</cp:revision>
  <dcterms:created xsi:type="dcterms:W3CDTF">2026-04-14T23:49:08Z</dcterms:created>
  <dcterms:modified xsi:type="dcterms:W3CDTF">2026-04-14T23:49:08Z</dcterms:modified>
</cp:coreProperties>
</file>