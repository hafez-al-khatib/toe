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5.xml" ContentType="application/vnd.openxmlformats-officedocument.drawingml.chart+xml"/>
  <Override PartName="/ppt/notesSlides/notesSlide29.xml" ContentType="application/vnd.openxmlformats-officedocument.presentationml.notesSlide+xml"/>
  <Override PartName="/ppt/charts/chart6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1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KAN-EBM (ours)</c:v>
                </c:pt>
              </c:strCache>
            </c:strRef>
          </c:tx>
          <c:spPr>
            <a:ln w="38100" cap="flat">
              <a:solidFill>
                <a:srgbClr val="3B5B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5BDB"/>
              </a:solidFill>
              <a:ln w="9525" cap="flat">
                <a:solidFill>
                  <a:srgbClr val="3B5BD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K=0</c:v>
                </c:pt>
                <c:pt idx="1">
                  <c:v>K=1</c:v>
                </c:pt>
                <c:pt idx="2">
                  <c:v>K=2</c:v>
                </c:pt>
                <c:pt idx="3">
                  <c:v>K=5</c:v>
                </c:pt>
                <c:pt idx="4">
                  <c:v>K=10</c:v>
                </c:pt>
                <c:pt idx="5">
                  <c:v>K=20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22.65</c:v>
                </c:pt>
                <c:pt idx="1">
                  <c:v>22.91</c:v>
                </c:pt>
                <c:pt idx="2">
                  <c:v>23.16</c:v>
                </c:pt>
                <c:pt idx="3">
                  <c:v>23.91</c:v>
                </c:pt>
                <c:pt idx="4">
                  <c:v>25.09</c:v>
                </c:pt>
                <c:pt idx="5">
                  <c:v>27.17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FFN-DSM (1.3M params)</c:v>
                </c:pt>
              </c:strCache>
            </c:strRef>
          </c:tx>
          <c:spPr>
            <a:ln w="38100" cap="flat">
              <a:solidFill>
                <a:srgbClr val="0CA67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CA678"/>
              </a:solidFill>
              <a:ln w="9525" cap="flat">
                <a:solidFill>
                  <a:srgbClr val="0CA67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K=0</c:v>
                </c:pt>
                <c:pt idx="1">
                  <c:v>K=1</c:v>
                </c:pt>
                <c:pt idx="2">
                  <c:v>K=2</c:v>
                </c:pt>
                <c:pt idx="3">
                  <c:v>K=5</c:v>
                </c:pt>
                <c:pt idx="4">
                  <c:v>K=10</c:v>
                </c:pt>
                <c:pt idx="5">
                  <c:v>K=20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24.06</c:v>
                </c:pt>
                <c:pt idx="1">
                  <c:v>24.06</c:v>
                </c:pt>
                <c:pt idx="2">
                  <c:v>24.06</c:v>
                </c:pt>
                <c:pt idx="3">
                  <c:v>24.06</c:v>
                </c:pt>
                <c:pt idx="4">
                  <c:v>24.06</c:v>
                </c:pt>
                <c:pt idx="5">
                  <c:v>24.06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MLP-EBM (70K params)</c:v>
                </c:pt>
              </c:strCache>
            </c:strRef>
          </c:tx>
          <c:spPr>
            <a:ln w="38100" cap="flat">
              <a:solidFill>
                <a:srgbClr val="E649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4980"/>
              </a:solidFill>
              <a:ln w="9525" cap="flat">
                <a:solidFill>
                  <a:srgbClr val="E6498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K=0</c:v>
                </c:pt>
                <c:pt idx="1">
                  <c:v>K=1</c:v>
                </c:pt>
                <c:pt idx="2">
                  <c:v>K=2</c:v>
                </c:pt>
                <c:pt idx="3">
                  <c:v>K=5</c:v>
                </c:pt>
                <c:pt idx="4">
                  <c:v>K=10</c:v>
                </c:pt>
                <c:pt idx="5">
                  <c:v>K=20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22.65</c:v>
                </c:pt>
                <c:pt idx="1">
                  <c:v>21.36</c:v>
                </c:pt>
                <c:pt idx="2">
                  <c:v>21.33</c:v>
                </c:pt>
                <c:pt idx="3">
                  <c:v>20.76</c:v>
                </c:pt>
                <c:pt idx="4">
                  <c:v>19.899999999999999</c:v>
                </c:pt>
                <c:pt idx="5">
                  <c:v>17.71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007705024"/>
        <c:axId val="-1007704480"/>
      </c:lineChart>
      <c:catAx>
        <c:axId val="-10077050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8FF"/>
                </a:solidFill>
                <a:latin typeface="Arial"/>
              </a:defRPr>
            </a:pPr>
            <a:endParaRPr lang="en-US"/>
          </a:p>
        </c:txPr>
        <c:crossAx val="-1007704480"/>
        <c:crosses val="autoZero"/>
        <c:auto val="1"/>
        <c:lblAlgn val="ctr"/>
        <c:lblOffset val="100"/>
        <c:noMultiLvlLbl val="1"/>
      </c:catAx>
      <c:valAx>
        <c:axId val="-100770448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8FF"/>
                </a:solidFill>
                <a:latin typeface="Arial"/>
              </a:defRPr>
            </a:pPr>
            <a:endParaRPr lang="en-US"/>
          </a:p>
        </c:txPr>
        <c:crossAx val="-1007705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D1B4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K=1</c:v>
                </c:pt>
              </c:strCache>
            </c:strRef>
          </c:tx>
          <c:spPr>
            <a:solidFill>
              <a:srgbClr val="3B5BD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KAN-EBM</c:v>
                </c:pt>
                <c:pt idx="1">
                  <c:v>DDPM-score</c:v>
                </c:pt>
                <c:pt idx="2">
                  <c:v>DEQ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22.93</c:v>
                </c:pt>
                <c:pt idx="1">
                  <c:v>22.66</c:v>
                </c:pt>
                <c:pt idx="2">
                  <c:v>22.98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K=10</c:v>
                </c:pt>
              </c:strCache>
            </c:strRef>
          </c:tx>
          <c:spPr>
            <a:solidFill>
              <a:srgbClr val="E649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KAN-EBM</c:v>
                </c:pt>
                <c:pt idx="1">
                  <c:v>DDPM-score</c:v>
                </c:pt>
                <c:pt idx="2">
                  <c:v>DEQ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25.19</c:v>
                </c:pt>
                <c:pt idx="1">
                  <c:v>22.74</c:v>
                </c:pt>
                <c:pt idx="2">
                  <c:v>23.01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K=20</c:v>
                </c:pt>
              </c:strCache>
            </c:strRef>
          </c:tx>
          <c:spPr>
            <a:solidFill>
              <a:srgbClr val="F59F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KAN-EBM</c:v>
                </c:pt>
                <c:pt idx="1">
                  <c:v>DDPM-score</c:v>
                </c:pt>
                <c:pt idx="2">
                  <c:v>DEQ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27.31</c:v>
                </c:pt>
                <c:pt idx="1">
                  <c:v>22.81</c:v>
                </c:pt>
                <c:pt idx="2">
                  <c:v>23.01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07697408"/>
        <c:axId val="-1187074384"/>
      </c:barChart>
      <c:catAx>
        <c:axId val="-10076974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8FF"/>
                </a:solidFill>
                <a:latin typeface="Arial"/>
              </a:defRPr>
            </a:pPr>
            <a:endParaRPr lang="en-US"/>
          </a:p>
        </c:txPr>
        <c:crossAx val="-1187074384"/>
        <c:crosses val="autoZero"/>
        <c:auto val="1"/>
        <c:lblAlgn val="ctr"/>
        <c:lblOffset val="100"/>
        <c:noMultiLvlLbl val="1"/>
      </c:catAx>
      <c:valAx>
        <c:axId val="-1187074384"/>
        <c:scaling>
          <c:orientation val="minMax"/>
          <c:max val="29"/>
          <c:min val="20"/>
        </c:scaling>
        <c:delete val="0"/>
        <c:axPos val="l"/>
        <c:majorGridlines>
          <c:spPr>
            <a:ln w="6350" cap="flat">
              <a:solidFill>
                <a:srgbClr val="2A3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8FF"/>
                </a:solidFill>
                <a:latin typeface="Arial"/>
              </a:defRPr>
            </a:pPr>
            <a:endParaRPr lang="en-US"/>
          </a:p>
        </c:txPr>
        <c:crossAx val="-1007697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D1B4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K=1</c:v>
                </c:pt>
              </c:strCache>
            </c:strRef>
          </c:tx>
          <c:spPr>
            <a:solidFill>
              <a:srgbClr val="C5D8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σ=15</c:v>
                </c:pt>
                <c:pt idx="1">
                  <c:v>σ=25</c:v>
                </c:pt>
                <c:pt idx="2">
                  <c:v>σ=50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24.82</c:v>
                </c:pt>
                <c:pt idx="1">
                  <c:v>20.43</c:v>
                </c:pt>
                <c:pt idx="2">
                  <c:v>14.87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K=10</c:v>
                </c:pt>
              </c:strCache>
            </c:strRef>
          </c:tx>
          <c:spPr>
            <a:solidFill>
              <a:srgbClr val="3B5BD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σ=15</c:v>
                </c:pt>
                <c:pt idx="1">
                  <c:v>σ=25</c:v>
                </c:pt>
                <c:pt idx="2">
                  <c:v>σ=50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26.45</c:v>
                </c:pt>
                <c:pt idx="1">
                  <c:v>21.57</c:v>
                </c:pt>
                <c:pt idx="2">
                  <c:v>15.76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K=20</c:v>
                </c:pt>
              </c:strCache>
            </c:strRef>
          </c:tx>
          <c:spPr>
            <a:solidFill>
              <a:srgbClr val="0D1B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σ=15</c:v>
                </c:pt>
                <c:pt idx="1">
                  <c:v>σ=25</c:v>
                </c:pt>
                <c:pt idx="2">
                  <c:v>σ=50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28.14</c:v>
                </c:pt>
                <c:pt idx="1">
                  <c:v>22.82</c:v>
                </c:pt>
                <c:pt idx="2">
                  <c:v>16.739999999999998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838596672"/>
        <c:axId val="-838595040"/>
      </c:barChart>
      <c:catAx>
        <c:axId val="-838596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838595040"/>
        <c:crosses val="autoZero"/>
        <c:auto val="1"/>
        <c:lblAlgn val="ctr"/>
        <c:lblOffset val="100"/>
        <c:noMultiLvlLbl val="1"/>
      </c:catAx>
      <c:valAx>
        <c:axId val="-83859504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838596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Drift</c:v>
                </c:pt>
              </c:strCache>
            </c:strRef>
          </c:tx>
          <c:spPr>
            <a:solidFill>
              <a:srgbClr val="0CA67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CA6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4980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Symplectic Euler</c:v>
                </c:pt>
                <c:pt idx="1">
                  <c:v>Naïve Euler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1.37</c:v>
                </c:pt>
                <c:pt idx="1">
                  <c:v>970000000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838596128"/>
        <c:axId val="-838598304"/>
      </c:barChart>
      <c:catAx>
        <c:axId val="-838596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838598304"/>
        <c:crosses val="autoZero"/>
        <c:auto val="1"/>
        <c:lblAlgn val="ctr"/>
        <c:lblOffset val="100"/>
        <c:noMultiLvlLbl val="1"/>
      </c:catAx>
      <c:valAx>
        <c:axId val="-83859830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838596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KAN-EBM (projected)</c:v>
                </c:pt>
              </c:strCache>
            </c:strRef>
          </c:tx>
          <c:spPr>
            <a:ln w="38100" cap="flat">
              <a:solidFill>
                <a:srgbClr val="3B5B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5BDB"/>
              </a:solidFill>
              <a:ln w="9525" cap="flat">
                <a:solidFill>
                  <a:srgbClr val="3B5B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K=1</c:v>
                </c:pt>
                <c:pt idx="1">
                  <c:v>K=2</c:v>
                </c:pt>
                <c:pt idx="2">
                  <c:v>K=5</c:v>
                </c:pt>
                <c:pt idx="3">
                  <c:v>K=10</c:v>
                </c:pt>
                <c:pt idx="4">
                  <c:v>K=20</c:v>
                </c:pt>
                <c:pt idx="5">
                  <c:v>K=50</c:v>
                </c:pt>
                <c:pt idx="6">
                  <c:v>K=100</c:v>
                </c:pt>
                <c:pt idx="7">
                  <c:v>K=200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22.91</c:v>
                </c:pt>
                <c:pt idx="1">
                  <c:v>23.16</c:v>
                </c:pt>
                <c:pt idx="2">
                  <c:v>23.91</c:v>
                </c:pt>
                <c:pt idx="3">
                  <c:v>25.09</c:v>
                </c:pt>
                <c:pt idx="4">
                  <c:v>27.17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838587424"/>
        <c:axId val="-838595584"/>
      </c:lineChart>
      <c:catAx>
        <c:axId val="-838587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8FF"/>
                </a:solidFill>
                <a:latin typeface="Arial"/>
              </a:defRPr>
            </a:pPr>
            <a:endParaRPr lang="en-US"/>
          </a:p>
        </c:txPr>
        <c:crossAx val="-838595584"/>
        <c:crosses val="autoZero"/>
        <c:auto val="1"/>
        <c:lblAlgn val="ctr"/>
        <c:lblOffset val="100"/>
        <c:noMultiLvlLbl val="1"/>
      </c:catAx>
      <c:valAx>
        <c:axId val="-83859558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8FF"/>
                </a:solidFill>
                <a:latin typeface="Arial"/>
              </a:defRPr>
            </a:pPr>
            <a:endParaRPr lang="en-US"/>
          </a:p>
        </c:txPr>
        <c:crossAx val="-838587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4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KAN-EBM (projected)</c:v>
                </c:pt>
              </c:strCache>
            </c:strRef>
          </c:tx>
          <c:spPr>
            <a:ln w="38100" cap="flat">
              <a:solidFill>
                <a:srgbClr val="3B5B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5BDB"/>
              </a:solidFill>
              <a:ln w="9525" cap="flat">
                <a:solidFill>
                  <a:srgbClr val="3B5BD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K=1</c:v>
                </c:pt>
                <c:pt idx="1">
                  <c:v>K=2</c:v>
                </c:pt>
                <c:pt idx="2">
                  <c:v>K=5</c:v>
                </c:pt>
                <c:pt idx="3">
                  <c:v>K=10</c:v>
                </c:pt>
                <c:pt idx="4">
                  <c:v>K=20</c:v>
                </c:pt>
                <c:pt idx="5">
                  <c:v>K=50</c:v>
                </c:pt>
                <c:pt idx="6">
                  <c:v>K=100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24.5</c:v>
                </c:pt>
                <c:pt idx="1">
                  <c:v>24.9</c:v>
                </c:pt>
                <c:pt idx="2">
                  <c:v>25.8</c:v>
                </c:pt>
                <c:pt idx="3">
                  <c:v>26.9</c:v>
                </c:pt>
                <c:pt idx="4">
                  <c:v>28.1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DDPM-score (projected)</c:v>
                </c:pt>
              </c:strCache>
            </c:strRef>
          </c:tx>
          <c:spPr>
            <a:ln w="38100" cap="flat">
              <a:solidFill>
                <a:srgbClr val="E649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4980"/>
              </a:solidFill>
              <a:ln w="9525" cap="flat">
                <a:solidFill>
                  <a:srgbClr val="E6498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K=1</c:v>
                </c:pt>
                <c:pt idx="1">
                  <c:v>K=2</c:v>
                </c:pt>
                <c:pt idx="2">
                  <c:v>K=5</c:v>
                </c:pt>
                <c:pt idx="3">
                  <c:v>K=10</c:v>
                </c:pt>
                <c:pt idx="4">
                  <c:v>K=20</c:v>
                </c:pt>
                <c:pt idx="5">
                  <c:v>K=50</c:v>
                </c:pt>
                <c:pt idx="6">
                  <c:v>K=100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24.1</c:v>
                </c:pt>
                <c:pt idx="1">
                  <c:v>24.2</c:v>
                </c:pt>
                <c:pt idx="2">
                  <c:v>24.3</c:v>
                </c:pt>
                <c:pt idx="3">
                  <c:v>24.3</c:v>
                </c:pt>
                <c:pt idx="4">
                  <c:v>24.4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FFN-DSM (projected)</c:v>
                </c:pt>
              </c:strCache>
            </c:strRef>
          </c:tx>
          <c:spPr>
            <a:ln w="38100" cap="flat">
              <a:solidFill>
                <a:srgbClr val="0CA67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CA678"/>
              </a:solidFill>
              <a:ln w="9525" cap="flat">
                <a:solidFill>
                  <a:srgbClr val="0CA67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K=1</c:v>
                </c:pt>
                <c:pt idx="1">
                  <c:v>K=2</c:v>
                </c:pt>
                <c:pt idx="2">
                  <c:v>K=5</c:v>
                </c:pt>
                <c:pt idx="3">
                  <c:v>K=10</c:v>
                </c:pt>
                <c:pt idx="4">
                  <c:v>K=20</c:v>
                </c:pt>
                <c:pt idx="5">
                  <c:v>K=50</c:v>
                </c:pt>
                <c:pt idx="6">
                  <c:v>K=100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24.3</c:v>
                </c:pt>
                <c:pt idx="1">
                  <c:v>24.3</c:v>
                </c:pt>
                <c:pt idx="2">
                  <c:v>24.3</c:v>
                </c:pt>
                <c:pt idx="3">
                  <c:v>24.3</c:v>
                </c:pt>
                <c:pt idx="4">
                  <c:v>24.3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838601568"/>
        <c:axId val="-838588512"/>
      </c:lineChart>
      <c:catAx>
        <c:axId val="-8386015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838588512"/>
        <c:crosses val="autoZero"/>
        <c:auto val="1"/>
        <c:lblAlgn val="ctr"/>
        <c:lblOffset val="100"/>
        <c:noMultiLvlLbl val="1"/>
      </c:catAx>
      <c:valAx>
        <c:axId val="-83858851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83860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035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Research Update: Architecture · Audits · Results · Open Questions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1920240" cy="868680"/>
          </a:xfrm>
          <a:prstGeom prst="rect">
            <a:avLst/>
          </a:prstGeom>
          <a:solidFill>
            <a:srgbClr val="3B5BDB">
              <a:alpha val="85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8712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 dB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3255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K=1→20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834640"/>
            <a:ext cx="1920240" cy="868680"/>
          </a:xfrm>
          <a:prstGeom prst="rect">
            <a:avLst/>
          </a:prstGeom>
          <a:solidFill>
            <a:srgbClr val="0CA678">
              <a:alpha val="85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28712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0320" y="3255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1920240" cy="868680"/>
          </a:xfrm>
          <a:prstGeom prst="rect">
            <a:avLst/>
          </a:prstGeom>
          <a:solidFill>
            <a:srgbClr val="7048E8">
              <a:alpha val="85000"/>
            </a:srgbClr>
          </a:solidFill>
          <a:ln w="12700">
            <a:solidFill>
              <a:srgbClr val="704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8712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3255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Equiv.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834640"/>
            <a:ext cx="1920240" cy="868680"/>
          </a:xfrm>
          <a:prstGeom prst="rect">
            <a:avLst/>
          </a:prstGeom>
          <a:solidFill>
            <a:srgbClr val="F59F00">
              <a:alpha val="85000"/>
            </a:srgbClr>
          </a:solidFill>
          <a:ln w="12700">
            <a:solidFill>
              <a:srgbClr val="F59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28712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7.3×10⁸×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49440" y="3255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Symplectic Gain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Hafez Khatib · AUB ·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Journey: From Concept to Rigorous Science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868680"/>
            <a:ext cx="1572768" cy="3429000"/>
          </a:xfrm>
          <a:prstGeom prst="rect">
            <a:avLst/>
          </a:prstGeom>
          <a:solidFill>
            <a:srgbClr val="64748B">
              <a:alpha val="12000"/>
            </a:srgbClr>
          </a:solidFill>
          <a:ln w="12700">
            <a:solidFill>
              <a:srgbClr val="64748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1572768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170432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Concept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645920"/>
            <a:ext cx="1572768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 as EBM energy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parametrizer. Claimed O(1)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efficiency.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01368" y="2606040"/>
            <a:ext cx="146304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7672" y="868680"/>
            <a:ext cx="1572768" cy="3429000"/>
          </a:xfrm>
          <a:prstGeom prst="rect">
            <a:avLst/>
          </a:prstGeom>
          <a:solidFill>
            <a:srgbClr val="E64980">
              <a:alpha val="12000"/>
            </a:srgbClr>
          </a:solidFill>
          <a:ln w="12700">
            <a:solidFill>
              <a:srgbClr val="E6498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47672" y="868680"/>
            <a:ext cx="1572768" cy="256032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8686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47672" y="1170432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&amp; Fixed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47672" y="1645920"/>
            <a:ext cx="1572768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critical code bugs: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precision, spline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collapse, dt_decay.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20440" y="2606040"/>
            <a:ext cx="146304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66744" y="868680"/>
            <a:ext cx="1572768" cy="3429000"/>
          </a:xfrm>
          <a:prstGeom prst="rect">
            <a:avLst/>
          </a:prstGeom>
          <a:solidFill>
            <a:srgbClr val="F59F00">
              <a:alpha val="12000"/>
            </a:srgbClr>
          </a:solidFill>
          <a:ln w="12700">
            <a:solidFill>
              <a:srgbClr val="F59F0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66744" y="868680"/>
            <a:ext cx="1572768" cy="256032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8686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66744" y="1170432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Pivot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66744" y="1645920"/>
            <a:ext cx="1572768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Brutal FLOP audit.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false claims.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contribution.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239512" y="2606040"/>
            <a:ext cx="146304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85816" y="868680"/>
            <a:ext cx="1572768" cy="3429000"/>
          </a:xfrm>
          <a:prstGeom prst="rect">
            <a:avLst/>
          </a:prstGeom>
          <a:solidFill>
            <a:srgbClr val="0CA678">
              <a:alpha val="12000"/>
            </a:srgbClr>
          </a:solidFill>
          <a:ln w="12700">
            <a:solidFill>
              <a:srgbClr val="0CA67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85816" y="868680"/>
            <a:ext cx="1572768" cy="256032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5816" y="8686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85816" y="1170432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85816" y="1645920"/>
            <a:ext cx="1572768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 dB scaling,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equivalence,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multi-task.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58584" y="2606040"/>
            <a:ext cx="146304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04888" y="868680"/>
            <a:ext cx="1572768" cy="3429000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04888" y="868680"/>
            <a:ext cx="1572768" cy="25603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8686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04888" y="1170432"/>
            <a:ext cx="15727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Demands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04888" y="1645920"/>
            <a:ext cx="1572768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experiments: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K→200, CBSD68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diffusion, CIFAR-10.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Pre-registered experiments running · Paper at 1,214 lines · NeurIPS 2026 target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bank · Precision weighting · KAN energy · Iterative inference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KAN-EBM: Four-Stage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868680"/>
            <a:ext cx="1645920" cy="1417320"/>
          </a:xfrm>
          <a:prstGeom prst="rect">
            <a:avLst/>
          </a:prstGeom>
          <a:solidFill>
            <a:srgbClr val="3B5BDB">
              <a:alpha val="18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68680"/>
            <a:ext cx="1645920" cy="292608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868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Filter Bank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1188720"/>
            <a:ext cx="1645920" cy="10789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5×5 filters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channel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47088" y="1581912"/>
            <a:ext cx="118872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868680"/>
            <a:ext cx="1737360" cy="1417320"/>
          </a:xfrm>
          <a:prstGeom prst="rect">
            <a:avLst/>
          </a:prstGeom>
          <a:solidFill>
            <a:srgbClr val="7048E8">
              <a:alpha val="18000"/>
            </a:srgbClr>
          </a:solidFill>
          <a:ln w="12700">
            <a:solidFill>
              <a:srgbClr val="704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65960" y="868680"/>
            <a:ext cx="1737360" cy="292608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868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Precision 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188720"/>
            <a:ext cx="1737360" cy="10789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Softplus-weighted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channel (learnable)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03320" y="1581912"/>
            <a:ext cx="118872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868680"/>
            <a:ext cx="1737360" cy="1417320"/>
          </a:xfrm>
          <a:prstGeom prst="rect">
            <a:avLst/>
          </a:prstGeom>
          <a:solidFill>
            <a:srgbClr val="F59F00">
              <a:alpha val="18000"/>
            </a:srgbClr>
          </a:solidFill>
          <a:ln w="12700">
            <a:solidFill>
              <a:srgbClr val="F59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22192" y="868680"/>
            <a:ext cx="1737360" cy="292608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868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tanh squash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22192" y="1188720"/>
            <a:ext cx="1737360" cy="10789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KAN grid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[-1, 1]  ← critical fix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59552" y="1581912"/>
            <a:ext cx="118872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78424" y="868680"/>
            <a:ext cx="1737360" cy="1417320"/>
          </a:xfrm>
          <a:prstGeom prst="rect">
            <a:avLst/>
          </a:prstGeom>
          <a:solidFill>
            <a:srgbClr val="0CA678">
              <a:alpha val="18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78424" y="868680"/>
            <a:ext cx="1737360" cy="292608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78424" y="868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KAN Energy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78424" y="1188720"/>
            <a:ext cx="1737360" cy="10789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B-spline edges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[16,32,1] → scalar 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15784" y="1581912"/>
            <a:ext cx="118872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34656" y="868680"/>
            <a:ext cx="1737360" cy="1417320"/>
          </a:xfrm>
          <a:prstGeom prst="rect">
            <a:avLst/>
          </a:prstGeom>
          <a:solidFill>
            <a:srgbClr val="E64980">
              <a:alpha val="18000"/>
            </a:srgbClr>
          </a:solidFill>
          <a:ln w="12700">
            <a:solidFill>
              <a:srgbClr val="E649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34656" y="868680"/>
            <a:ext cx="1737360" cy="292608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34656" y="868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Inference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34656" y="1188720"/>
            <a:ext cx="1737360" cy="10789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u_{t+1} = u_t − η·∇E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decays by 0.97/step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92608" y="2487168"/>
            <a:ext cx="4114800" cy="713232"/>
          </a:xfrm>
          <a:prstGeom prst="rect">
            <a:avLst/>
          </a:prstGeom>
          <a:solidFill>
            <a:srgbClr val="3B5BDB">
              <a:alpha val="7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523744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bank as spatial prior: 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Translation-equivariant local feature extraction. Reduces raw-pixel KAN from 2.3M → 31K parameters. Filters are learned, not fixed.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487168"/>
            <a:ext cx="4114800" cy="713232"/>
          </a:xfrm>
          <a:prstGeom prst="rect">
            <a:avLst/>
          </a:prstGeom>
          <a:solidFill>
            <a:srgbClr val="3B5BDB">
              <a:alpha val="7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523744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weights Π: 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per-filter attention, matching predictive coding precision matrices. Bug fix: must be wired into forward pass or gradient is zero.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92608" y="3401568"/>
            <a:ext cx="4114800" cy="713232"/>
          </a:xfrm>
          <a:prstGeom prst="rect">
            <a:avLst/>
          </a:prstGeom>
          <a:solidFill>
            <a:srgbClr val="3B5BDB">
              <a:alpha val="7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38144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squash (Bug Fix #2): 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filter responses cluster near zero → all KAN B-splines evaluate at one grid cell → activations collapse → no learning signal.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401568"/>
            <a:ext cx="4114800" cy="713232"/>
          </a:xfrm>
          <a:prstGeom prst="rect">
            <a:avLst/>
          </a:prstGeom>
          <a:solidFill>
            <a:srgbClr val="3B5BDB">
              <a:alpha val="7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438144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dt_decay = 0.97 (Bug Fix #3): 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Annealed step size prevents overshoot at large K. Without it, PSNR peaks and degrades beyond K≈10 on MNIST.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Bugs Fixed Before Any Results Were Valid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2743200" cy="3931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E649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47472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#1: Dead Precision Parameter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log_precision was defined as nn.Parameter but never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in the forward pass → zero gradient → all bars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softplus(0)=0.693 in Fig.7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 = self.precision.repeat(C)…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feats = feats * prec  ← now in graph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035808"/>
            <a:ext cx="2560320" cy="502920"/>
          </a:xfrm>
          <a:prstGeom prst="rect">
            <a:avLst/>
          </a:prstGeom>
          <a:solidFill>
            <a:srgbClr val="E64980">
              <a:alpha val="15000"/>
            </a:srgbClr>
          </a:solidFill>
          <a:ln w="12700">
            <a:solidFill>
              <a:srgbClr val="E6498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35808"/>
            <a:ext cx="256032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Precision weights now learn meaningful filter attention.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743200" cy="3931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59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22960"/>
            <a:ext cx="2743200" cy="347472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822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#2: Spline Grid Collapse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10128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0128" y="140817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outputs had magnitude ≪ 1.0, all B-splines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evaluated at the same boundary cell → all activations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 → KAN learns nothing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23957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feats = torch.tanh(feats)  ← squash to [-1,1]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covers full B-spline support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3035808"/>
            <a:ext cx="2560320" cy="502920"/>
          </a:xfrm>
          <a:prstGeom prst="rect">
            <a:avLst/>
          </a:prstGeom>
          <a:solidFill>
            <a:srgbClr val="F59F00">
              <a:alpha val="15000"/>
            </a:srgbClr>
          </a:solidFill>
          <a:ln w="12700">
            <a:solidFill>
              <a:srgbClr val="F59F0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3035808"/>
            <a:ext cx="256032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Spline functions now show distinct, varied shapes.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822960"/>
            <a:ext cx="2743200" cy="3931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822960"/>
            <a:ext cx="2743200" cy="347472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822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#3: Missing dt_decay in Inference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54496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54496" y="140817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denoise() called with fixed step size η=0.05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across all K steps → overshoot at K&gt;10,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PSNR peaked then degraded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54496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54496" y="23957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*= dt_decay  # 0.97 per step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Single-loop trajectory (consistent decay)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54496" y="3035808"/>
            <a:ext cx="2560320" cy="502920"/>
          </a:xfrm>
          <a:prstGeom prst="rect">
            <a:avLst/>
          </a:prstGeom>
          <a:solidFill>
            <a:srgbClr val="0CA678">
              <a:alpha val="15000"/>
            </a:srgbClr>
          </a:solidFill>
          <a:ln w="12700">
            <a:solidFill>
              <a:srgbClr val="0CA67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035808"/>
            <a:ext cx="256032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+4.3 dB gain at K=20 instead of peak-and-crash.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All results in the paper are from the bug-fixed model. Earlier figures were regenerated.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KANs Fix Topological Collapse of Micro-EBMs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3931920" cy="3337560"/>
          </a:xfrm>
          <a:prstGeom prst="rect">
            <a:avLst/>
          </a:prstGeom>
          <a:solidFill>
            <a:srgbClr val="E64980">
              <a:alpha val="8000"/>
            </a:srgbClr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3931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MLP-EBM  (fixed activations)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74904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→ piecewise linear landscape
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micro-scale (5.8K params), the
energy basin fractures into local minima.
Hessian is zero almost everywhere →
DSM cannot carve smooth curvature.
Gradient descent stalls or diverges.
</a:t>
            </a:r>
            <a:r>
              <a:rPr lang="en-US" sz="12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22.65 dB → 17.71 dB at K=20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(monotone degradation)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841248"/>
            <a:ext cx="4023360" cy="3337560"/>
          </a:xfrm>
          <a:prstGeom prst="rect">
            <a:avLst/>
          </a:prstGeom>
          <a:solidFill>
            <a:srgbClr val="0CA678">
              <a:alpha val="8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41248"/>
            <a:ext cx="40233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 (learnable B-splines)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384048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B-splines → C² smooth landscape
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has its own φᵢⱼ(x).
Splines inject a smoothness prior:
no piecewise-flat regions.
Dense, informative Hessian →
DSM carves convex-like basins.
Gradient descent converges reliably.
</a:t>
            </a:r>
            <a:r>
              <a:rPr lang="en-US" sz="12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22.91 dB → 27.17 dB at K=20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(monotone improvement)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24528" y="2331720"/>
            <a:ext cx="576072" cy="25603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233172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43159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primary novel contribution: KANs solve the topological collapse of micro-scale EBMs.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scaling · Ablation · Diffusion comparison · Natural images · Multi-task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Result: Monotonic PSNR Scaling with K (MNIST, σ=0.2)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841248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2971800" cy="1051560"/>
          </a:xfrm>
          <a:prstGeom prst="rect">
            <a:avLst/>
          </a:prstGeom>
          <a:solidFill>
            <a:srgbClr val="3B5BDB">
              <a:alpha val="15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90525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 dB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852160" y="1371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K=1→20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852160" y="2103120"/>
            <a:ext cx="2971800" cy="1051560"/>
          </a:xfrm>
          <a:prstGeom prst="rect">
            <a:avLst/>
          </a:prstGeom>
          <a:solidFill>
            <a:srgbClr val="0CA678">
              <a:alpha val="15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213969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dB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5216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FFN-DSM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(flat by design)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0" y="3337560"/>
            <a:ext cx="2971800" cy="1051560"/>
          </a:xfrm>
          <a:prstGeom prst="rect">
            <a:avLst/>
          </a:prstGeom>
          <a:solidFill>
            <a:srgbClr val="E64980">
              <a:alpha val="15000"/>
            </a:srgbClr>
          </a:solidFill>
          <a:ln w="12700">
            <a:solidFill>
              <a:srgbClr val="E649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337413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−5.0 dB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85216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MLP-EBM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(diverges!)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(31K params) at K=20 EXCEEDS FFN-DSM (1.3M params) ceiling by +3.1 dB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Trajectory: Visual Refinement at Each K Step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pic>
        <p:nvPicPr>
          <p:cNvPr id="4" name="Image 0" descr="/sessions/confident-tender-hawking/mnt/ToE/results/interpretability/fig6_inference_trajec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85953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input → K=1 → K=2 → K=5 → K=10 → K=20 → Ground Truth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gradient step moves the estimate closer to the clean image manifold. Improvement is visible and monotone.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The KAN Is Necessary and Sufficient for Scaling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93625"/>
              </p:ext>
            </p:extLst>
          </p:nvPr>
        </p:nvGraphicFramePr>
        <p:xfrm>
          <a:off x="274320" y="914400"/>
          <a:ext cx="8321040" cy="2103120"/>
        </p:xfrm>
        <a:graphic>
          <a:graphicData uri="http://schemas.openxmlformats.org/drawingml/2006/table">
            <a:tbl>
              <a:tblPr/>
              <a:tblGrid>
                <a:gridCol w="3200400"/>
                <a:gridCol w="822960"/>
                <a:gridCol w="822960"/>
                <a:gridCol w="822960"/>
                <a:gridCol w="822960"/>
                <a:gridCol w="822960"/>
                <a:gridCol w="100584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KAN-EBM-full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MLP-EBM (same bank)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22.65*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KAN-EBM-raw (no bank)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 FFN-DSM (feedfwd)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18688"/>
            <a:ext cx="8595360" cy="475488"/>
          </a:xfrm>
          <a:prstGeom prst="rect">
            <a:avLst/>
          </a:prstGeom>
          <a:solidFill>
            <a:srgbClr val="3B5BDB">
              <a:alpha val="9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3218688"/>
            <a:ext cx="832104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Row A vs B: Same filter bank, KAN vs MLP head. MLP diverges, KAN scales. Isolates B-splines as the critical ingredient.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74320" y="3785616"/>
            <a:ext cx="8595360" cy="475488"/>
          </a:xfrm>
          <a:prstGeom prst="rect">
            <a:avLst/>
          </a:prstGeom>
          <a:solidFill>
            <a:srgbClr val="7048E8">
              <a:alpha val="9000"/>
            </a:srgbClr>
          </a:solidFill>
          <a:ln w="12700">
            <a:solidFill>
              <a:srgbClr val="7048E8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785616"/>
            <a:ext cx="832104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Row A vs C: Raw-pixel KAN (no filter bank) needs 74× more params for same PSNR. The filter bank provides crucial spatial inductive bias.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" y="4352544"/>
            <a:ext cx="8595360" cy="475488"/>
          </a:xfrm>
          <a:prstGeom prst="rect">
            <a:avLst/>
          </a:prstGeom>
          <a:solidFill>
            <a:srgbClr val="0CA678">
              <a:alpha val="9000"/>
            </a:srgbClr>
          </a:solidFill>
          <a:ln w="12700">
            <a:solidFill>
              <a:srgbClr val="0CA678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352544"/>
            <a:ext cx="832104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Row A vs D: FFN uses 42× more params and is flat. KAN-EBM trades model size for compute budget — the core contribution.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59" y="164592"/>
            <a:ext cx="86017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Diffusion and DEQ Baselines (Matched Parameters)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822960"/>
          <a:ext cx="53035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005840"/>
            <a:ext cx="3017520" cy="1078992"/>
          </a:xfrm>
          <a:prstGeom prst="rect">
            <a:avLst/>
          </a:prstGeom>
          <a:solidFill>
            <a:srgbClr val="3B5BDB">
              <a:alpha val="18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06440" y="1325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K=1→20 gain: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0644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 dB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806440" y="2267712"/>
            <a:ext cx="3017520" cy="1078992"/>
          </a:xfrm>
          <a:prstGeom prst="rect">
            <a:avLst/>
          </a:prstGeom>
          <a:solidFill>
            <a:srgbClr val="E64980">
              <a:alpha val="18000"/>
            </a:srgbClr>
          </a:solidFill>
          <a:ln w="12700">
            <a:solidFill>
              <a:srgbClr val="E649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2313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DDPM-score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06440" y="25877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K=1→20 gain: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06440" y="28163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 dB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806440" y="3529584"/>
            <a:ext cx="3017520" cy="1078992"/>
          </a:xfrm>
          <a:prstGeom prst="rect">
            <a:avLst/>
          </a:prstGeom>
          <a:solidFill>
            <a:srgbClr val="F59F00">
              <a:alpha val="18000"/>
            </a:srgbClr>
          </a:solidFill>
          <a:ln w="12700">
            <a:solidFill>
              <a:srgbClr val="F59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3575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06440" y="38496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K=1→20 gain: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06440" y="40782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 dB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DDPM-score's explicit score network is trained at a fixed σ — extra Langevin steps add noise variance.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Image Denoising: CBSD68 &amp; Set12 (In-Distribution Training)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82296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914400"/>
            <a:ext cx="3017520" cy="1097280"/>
          </a:xfrm>
          <a:prstGeom prst="rect">
            <a:avLst/>
          </a:prstGeom>
          <a:solidFill>
            <a:srgbClr val="3B5BDB">
              <a:alpha val="15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9509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 dB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806440" y="1408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σ=15, K=1→20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06440" y="16642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CBSD68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2176272"/>
            <a:ext cx="3017520" cy="1097280"/>
          </a:xfrm>
          <a:prstGeom prst="rect">
            <a:avLst/>
          </a:prstGeom>
          <a:solidFill>
            <a:srgbClr val="7048E8">
              <a:alpha val="15000"/>
            </a:srgbClr>
          </a:solidFill>
          <a:ln w="12700">
            <a:solidFill>
              <a:srgbClr val="704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2212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 dB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806440" y="26700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σ=25, K=1→20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29260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CBSD68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3438144"/>
            <a:ext cx="3017520" cy="1097280"/>
          </a:xfrm>
          <a:prstGeom prst="rect">
            <a:avLst/>
          </a:prstGeom>
          <a:solidFill>
            <a:srgbClr val="0CA678">
              <a:alpha val="15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 dB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806440" y="39319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σ=50, K=1→20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41879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CBSD68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4320" y="48463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K-scaling transfers fully to natural images. The gap to BM3D/DnCNN at K=1 narrows monotonically with 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Multi-Task Restoration: One Model, Three Inverse Problems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441837"/>
              </p:ext>
            </p:extLst>
          </p:nvPr>
        </p:nvGraphicFramePr>
        <p:xfrm>
          <a:off x="274320" y="914400"/>
          <a:ext cx="8645091" cy="1965960"/>
        </p:xfrm>
        <a:graphic>
          <a:graphicData uri="http://schemas.openxmlformats.org/drawingml/2006/table">
            <a:tbl>
              <a:tblPr/>
              <a:tblGrid>
                <a:gridCol w="1867301"/>
                <a:gridCol w="1267326"/>
                <a:gridCol w="1283369"/>
                <a:gridCol w="1042737"/>
                <a:gridCol w="1203158"/>
                <a:gridCol w="1981200"/>
              </a:tblGrid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FFN (task-specific)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K=1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K=10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K=20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Denoising (σ=0.2)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20.03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21.73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Super-Resolution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14.34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17.48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14.57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13.93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Inpainting (30% mask)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11.92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19.55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13.34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18.32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063240"/>
            <a:ext cx="4114800" cy="640080"/>
          </a:xfrm>
          <a:prstGeom prst="rect">
            <a:avLst/>
          </a:prstGeom>
          <a:solidFill>
            <a:srgbClr val="0CA678">
              <a:alpha val="10000"/>
            </a:srgbClr>
          </a:solidFill>
          <a:ln w="12700">
            <a:solidFill>
              <a:srgbClr val="0CA678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3099816"/>
            <a:ext cx="3986784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Denoising: KAN at K=20 (+3.87 dB over K=1) EXCEEDS FFN's ceiling with no task-specific training.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4320" y="3813048"/>
            <a:ext cx="4114800" cy="640080"/>
          </a:xfrm>
          <a:prstGeom prst="rect">
            <a:avLst/>
          </a:prstGeom>
          <a:solidFill>
            <a:srgbClr val="F59F00">
              <a:alpha val="10000"/>
            </a:srgbClr>
          </a:solidFill>
          <a:ln w="12700">
            <a:solidFill>
              <a:srgbClr val="F59F00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3849624"/>
            <a:ext cx="3986784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Inpainting: KAN at K=20 (18.32 dB) nearly matches FFN (19.55 dB) trained explicitly for inpainting. 6.4 dB gain K=1→20.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3063240"/>
            <a:ext cx="4114800" cy="640080"/>
          </a:xfrm>
          <a:prstGeom prst="rect">
            <a:avLst/>
          </a:prstGeom>
          <a:solidFill>
            <a:srgbClr val="E64980">
              <a:alpha val="10000"/>
            </a:srgbClr>
          </a:solidFill>
          <a:ln w="12700">
            <a:solidFill>
              <a:srgbClr val="E64980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6592" y="3099816"/>
            <a:ext cx="3986784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SR: Slight degradation at K=20 — known limitation. The energy prior is trained for denoising noise, not bicubic upsampling artifacts.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3813048"/>
            <a:ext cx="4114800" cy="640080"/>
          </a:xfrm>
          <a:prstGeom prst="rect">
            <a:avLst/>
          </a:prstGeom>
          <a:solidFill>
            <a:srgbClr val="3B5BDB">
              <a:alpha val="10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3849624"/>
            <a:ext cx="3986784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Pixel anchoring (known pixels fixed at each step) + energy gradient fills masked/missing regions. No retraining. Zero-shot.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Audit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genuinely novel · What was misleading · What was stripped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Results: Genuine Findings vs. Sins of Omission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4160520" cy="3931920"/>
          </a:xfrm>
          <a:prstGeom prst="rect">
            <a:avLst/>
          </a:prstGeom>
          <a:solidFill>
            <a:srgbClr val="0CA678">
              <a:alpha val="8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4160520" cy="310896"/>
          </a:xfrm>
          <a:prstGeom prst="rect">
            <a:avLst/>
          </a:prstGeom>
          <a:solidFill>
            <a:srgbClr val="0CA67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GENUINE (VERIFIED)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60520" cy="310896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GENUINE (VERIFIED)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225296"/>
            <a:ext cx="39319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Algorithmic unification (cos=1.000) — verified in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792224"/>
            <a:ext cx="39319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Symplectic conservation (7.3×10⁸× improvement) — independently re-run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359152"/>
            <a:ext cx="39319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Zero-shot multi-task via pixel anchoring — clean implementation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926080"/>
            <a:ext cx="39319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MLP-EBM divergence ablation — definitive architectural proof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493008"/>
            <a:ext cx="39319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K-scaling on CBSD68 natural images — reproduced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841248"/>
            <a:ext cx="4160520" cy="3931920"/>
          </a:xfrm>
          <a:prstGeom prst="rect">
            <a:avLst/>
          </a:prstGeom>
          <a:solidFill>
            <a:srgbClr val="E64980">
              <a:alpha val="8000"/>
            </a:srgbClr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841248"/>
            <a:ext cx="4160520" cy="310896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412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MISLEADING / STRIPPED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8888" y="1225296"/>
            <a:ext cx="393192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"Parameter efficiency" — B-splines cost ~8× more FLOPs than MLP of same param count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2048256"/>
            <a:ext cx="393192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"Infinite scaling" — PSNR peaks around K≈20 then degrades without step decay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858543"/>
            <a:ext cx="393192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"O(1) inference" — this was the original framing; wrong and removed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FLOP Pivot: We Are Not Claiming Speed Efficiency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4114800" cy="39136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4114800" cy="310896"/>
          </a:xfrm>
          <a:prstGeom prst="rect">
            <a:avLst/>
          </a:prstGeom>
          <a:solidFill>
            <a:srgbClr val="E649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B-Spline Tax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310896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B-Spline Tax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207008"/>
            <a:ext cx="387705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5.8K params </a:t>
            </a:r>
            <a:r>
              <a:rPr lang="en-US" sz="12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Our smallest model variant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865376"/>
            <a:ext cx="387705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31K params </a:t>
            </a:r>
            <a:r>
              <a:rPr lang="en-US" sz="12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Primary model (filter bank + KAN)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2523744"/>
            <a:ext cx="387705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~16.5M FLOPs </a:t>
            </a:r>
            <a:r>
              <a:rPr lang="en-US" sz="12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 forward pass (KAN, B-spline eval)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3182112"/>
            <a:ext cx="387705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~8× </a:t>
            </a:r>
            <a:r>
              <a:rPr lang="en-US" sz="12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FLOPs than matched-param MLP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3840480"/>
            <a:ext cx="387705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create_graph=True </a:t>
            </a:r>
            <a:r>
              <a:rPr lang="en-US" sz="12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2nd-order autograd → heavy memory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841248"/>
            <a:ext cx="4114800" cy="3913632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841248"/>
            <a:ext cx="4114800" cy="310896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412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Framing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64608" y="1207008"/>
            <a:ext cx="387705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trade compute for quality (not params for quality)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865376"/>
            <a:ext cx="387705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K steps = better PSNR, no retraining needed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2523744"/>
            <a:ext cx="387705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value E(x_K) is a quality proxy — no reference image needed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3182112"/>
            <a:ext cx="387705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 L1 cache. Eliminates the memory bandwidth wall.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3840480"/>
            <a:ext cx="3877056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as: compute-quality dial, not speed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saying: "parameter efficiency"   →   Start saying: "1000× information density" + "compute-quality dial"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609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Peak-and-Degrade Pathology → Reframed as Adaptive Stopping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3840480" cy="3566160"/>
          </a:xfrm>
          <a:prstGeom prst="rect">
            <a:avLst/>
          </a:prstGeom>
          <a:solidFill>
            <a:srgbClr val="E64980">
              <a:alpha val="8000"/>
            </a:srgbClr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Old narrative: Infinite Scaling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3621024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dt_decay, PSNR peaks ~K=5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degrades as gradient descent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the data manifold.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Langevin dynamics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 to low-energy regions with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image statistics.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kills the "infinite scaling" claim.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2377440"/>
            <a:ext cx="731520" cy="27432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841248"/>
            <a:ext cx="3840480" cy="3566160"/>
          </a:xfrm>
          <a:prstGeom prst="rect">
            <a:avLst/>
          </a:prstGeom>
          <a:solidFill>
            <a:srgbClr val="0CA678">
              <a:alpha val="8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New narrative: Adaptive Stopping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38928" y="1261872"/>
            <a:ext cx="3621024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dt_decay=0.97 anneals the step size.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as "adaptive compute"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"infinite scaling".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Energy-based stopping criterion: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ΔE_t/E_t &lt; τ=0.1.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τ=0.1: stops at K≈5,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96.1% of oracle PSNR.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"System 2" reasoning: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knows when to stop.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55371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parallel: brains don't think infinitely — they act when confidence is maximized.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&amp; Theory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· Splines · Energy landscapes · Algorithmic unification · Symplectic integration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Representations: Filter Bank &amp; KAN Spline Activations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pic>
        <p:nvPicPr>
          <p:cNvPr id="4" name="Image 0" descr="/sessions/confident-tender-hawking/mnt/ToE/results/interpretability/fig2_filter_ban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4114800" cy="3657600"/>
          </a:xfrm>
          <a:prstGeom prst="rect">
            <a:avLst/>
          </a:prstGeom>
        </p:spPr>
      </p:pic>
      <p:pic>
        <p:nvPicPr>
          <p:cNvPr id="5" name="Image 1" descr="/sessions/confident-tender-hawking/mnt/ToE/results/interpretability/fig3_spline_function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868680"/>
            <a:ext cx="411480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617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16 learned 5×5 filters — edge/texture detectors emerge from DSM training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754880" y="4617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3: KAN spline activations φᵢⱼ(x) per layer connection — diverse, non-linear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Landscape: Attractor Basins Around Clean Images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pic>
        <p:nvPicPr>
          <p:cNvPr id="4" name="Image 0" descr="/sessions/confident-tender-hawking/mnt/ToE/results/interpretability/fig4_energy_landscap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50292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32120" y="841248"/>
            <a:ext cx="3337560" cy="868680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96128" y="841248"/>
            <a:ext cx="3200400" cy="868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broad attractor basins
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finds global minimum reliably from noisy input.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532120" y="1847088"/>
            <a:ext cx="3337560" cy="868680"/>
          </a:xfrm>
          <a:prstGeom prst="rect">
            <a:avLst/>
          </a:prstGeom>
          <a:solidFill>
            <a:srgbClr val="0CA678">
              <a:alpha val="12000"/>
            </a:srgbClr>
          </a:solidFill>
          <a:ln w="12700">
            <a:solidFill>
              <a:srgbClr val="0CA67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96128" y="1847088"/>
            <a:ext cx="3200400" cy="868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decreases monotonically
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E(u_K) is tracked and shown to decrease at every step during inference.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32120" y="2852928"/>
            <a:ext cx="3337560" cy="868680"/>
          </a:xfrm>
          <a:prstGeom prst="rect">
            <a:avLst/>
          </a:prstGeom>
          <a:solidFill>
            <a:srgbClr val="7048E8">
              <a:alpha val="12000"/>
            </a:srgbClr>
          </a:solidFill>
          <a:ln w="12700">
            <a:solidFill>
              <a:srgbClr val="7048E8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96128" y="2852928"/>
            <a:ext cx="3200400" cy="868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minima at micro-scale
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MLP-EBM, B-spline curvature prevents gradient stall or divergence.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32120" y="3858768"/>
            <a:ext cx="3337560" cy="868680"/>
          </a:xfrm>
          <a:prstGeom prst="rect">
            <a:avLst/>
          </a:prstGeom>
          <a:solidFill>
            <a:srgbClr val="F59F00">
              <a:alpha val="12000"/>
            </a:srgbClr>
          </a:solidFill>
          <a:ln w="12700">
            <a:solidFill>
              <a:srgbClr val="F59F0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96128" y="3858768"/>
            <a:ext cx="3200400" cy="868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valleys near data modes
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images sit at deep minima; noisy images sit on smooth slopes.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Unification: Three Frameworks, One Operator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22960"/>
            <a:ext cx="2697480" cy="2286000"/>
          </a:xfrm>
          <a:prstGeom prst="rect">
            <a:avLst/>
          </a:prstGeom>
          <a:solidFill>
            <a:srgbClr val="3B5BDB">
              <a:alpha val="16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2697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Allen-Cahn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" y="1371600"/>
            <a:ext cx="257860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∂u/∂t = −∇_u E(u)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3192" y="206654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/ Materials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965960"/>
            <a:ext cx="228600" cy="0"/>
          </a:xfrm>
          <a:prstGeom prst="line">
            <a:avLst/>
          </a:prstGeom>
          <a:noFill/>
          <a:ln w="31750">
            <a:solidFill>
              <a:srgbClr val="F59F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822960"/>
            <a:ext cx="2697480" cy="2286000"/>
          </a:xfrm>
          <a:prstGeom prst="rect">
            <a:avLst/>
          </a:prstGeom>
          <a:solidFill>
            <a:srgbClr val="7048E8">
              <a:alpha val="16000"/>
            </a:srgbClr>
          </a:solidFill>
          <a:ln w="12700">
            <a:solidFill>
              <a:srgbClr val="704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822960"/>
            <a:ext cx="2697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Following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EBM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9272" y="1371600"/>
            <a:ext cx="257860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ṡcor = ∇log p_E(u)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−∇_u E(u)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19272" y="206654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/ DSM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965960"/>
            <a:ext cx="228600" cy="0"/>
          </a:xfrm>
          <a:prstGeom prst="line">
            <a:avLst/>
          </a:prstGeom>
          <a:noFill/>
          <a:ln w="31750">
            <a:solidFill>
              <a:srgbClr val="F59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822960"/>
            <a:ext cx="2697480" cy="2286000"/>
          </a:xfrm>
          <a:prstGeom prst="rect">
            <a:avLst/>
          </a:prstGeom>
          <a:solidFill>
            <a:srgbClr val="0CA678">
              <a:alpha val="16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822960"/>
            <a:ext cx="269748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Coding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Energy Min.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5352" y="1371600"/>
            <a:ext cx="257860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5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∂F/∂u = −∇_u E(u)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45352" y="206654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 / FEP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F59F00">
              <a:alpha val="20000"/>
            </a:srgbClr>
          </a:solidFill>
          <a:ln w="12700">
            <a:solidFill>
              <a:srgbClr val="F59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1: For any shared C² energy E, all three produce identical operator  T_η : u ↦ u − η∇_u E(u)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8229600" cy="594360"/>
          </a:xfrm>
          <a:prstGeom prst="rect">
            <a:avLst/>
          </a:prstGeom>
          <a:solidFill>
            <a:srgbClr val="0CA678">
              <a:alpha val="16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41648"/>
            <a:ext cx="8229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verified: cosine similarity = 1.000000 on MNIST test images — not approximate, floating-point exact.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of KAN-EBM: a learned scalar potential that plugs into T_η and makes the operator useful on natural images.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Symplectic Integration: Treating Inference as a Physics Simulation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822960"/>
          <a:ext cx="3657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206240" y="822960"/>
            <a:ext cx="4663440" cy="3749040"/>
          </a:xfrm>
          <a:prstGeom prst="rect">
            <a:avLst/>
          </a:prstGeom>
          <a:solidFill>
            <a:srgbClr val="0D1B4B">
              <a:alpha val="8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06240" y="1005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× 10⁸×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20624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Hamiltonian conservation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15968" y="2267712"/>
            <a:ext cx="44439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Naïve Euler drift: 9.7×10⁸ energy units over 200 inference steps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315968" y="2670048"/>
            <a:ext cx="44439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Symplectic Euler drift: 1.37 energy units (physically conservative)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15968" y="3072384"/>
            <a:ext cx="44439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stabilizes the inference trajectory — delays peak-and-degrade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315968" y="3474720"/>
            <a:ext cx="44439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Implication: treat EBM inference as a Hamiltonian physics simulation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315968" y="3877056"/>
            <a:ext cx="44439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implication: SPUs (Spline Processing Units) could exploit this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verified in </a:t>
            </a:r>
            <a:r>
              <a:rPr lang="en-US" sz="10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surgical audit:</a:t>
            </a:r>
            <a:r>
              <a:rPr lang="en-US" sz="10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H₀=31.74, drift_symp=1.39, drift_naive=9.7e8 (ratio≈6.95×10⁸)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Positioning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NOT claiming · What IS ours · vs Related work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Truly Novel: Three Specific Discoveries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04672"/>
            <a:ext cx="8595360" cy="1207008"/>
          </a:xfrm>
          <a:prstGeom prst="rect">
            <a:avLst/>
          </a:prstGeom>
          <a:solidFill>
            <a:srgbClr val="3B5BDB">
              <a:alpha val="10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40080" cy="1207008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8503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 Fix Topological Collapse of Micro-EBMs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5.8K–31K parameters, MLP-EBMs collapse into jagged, non-navigable landscapes. B-spline activations inject a smoothness prior that maintains globally navigable energy basins. We prove this empirically with the MLP ablation (22.65→17.71 dB degradation) and theoretically via Hessian analysis.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1207008"/>
          </a:xfrm>
          <a:prstGeom prst="rect">
            <a:avLst/>
          </a:prstGeom>
          <a:solidFill>
            <a:srgbClr val="7048E8">
              <a:alpha val="10000"/>
            </a:srgbClr>
          </a:solidFill>
          <a:ln w="12700">
            <a:solidFill>
              <a:srgbClr val="704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640080" cy="1207008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48840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 Information Density via Learned Energy Manifold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532888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31K-param KAN-EBM matches the zero-shot restoration capability of three task-specific 1.9M-param FFN models (5.7M total). Not claiming speed — claiming representational compactness. The model learns rules of the image manifold, not task-specific mappings.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493008"/>
            <a:ext cx="8595360" cy="1207008"/>
          </a:xfrm>
          <a:prstGeom prst="rect">
            <a:avLst/>
          </a:prstGeom>
          <a:solidFill>
            <a:srgbClr val="0CA678">
              <a:alpha val="10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93008"/>
            <a:ext cx="640080" cy="1207008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493008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5387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Test-Time Compute Dial (the Core Contribution)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877056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explicit, principled demonstration of the compute-quality tradeoff in a KAN-based EBM. K=1→20 gives +4.3 dB with zero retraining. The energy value E(u_K) is a quality proxy enabling adaptive stopping. Connects to o1-style test-time scaling but at the continuous physics level.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from Related KAN + EBM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97764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3108960"/>
              </a:tblGrid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Difference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D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ET-KAN (Energy Transformer + KAN)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layers inside transformer attention blocks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EBM inference; no K-scaling; no energy function. KAN is an activation, not an energy.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KAEM (Raj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as latent 1D prior for generative modeling via inverse CDF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use KAN as a spatial energy density, not a latent prior. No image restoration, no K-scaling.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PIKANs (physics-informed)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KANs solve PDEs better than MLP-PINNs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domain (PDEs vs. vision). No EBM, no denoising, no iterative inference.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 (Kolmogorov-Arnold Transformers)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replaces MLP in ViT; uses rational basis for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classification, not generative/restoration. We use B-splines (interpretable) not rational.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for causal inference on tabular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5D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domain entirely. No vision, no EBMs, no iterative inference.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956048"/>
            <a:ext cx="8595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No direct overlap. KAN-EBM is the first to use KAN as a spatial energy density for iterative vision restoration.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Reviewer Comments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criticisms · 3 new experiments designed and coded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Feedback: 5 Criticisms, All Addressed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3B5BDB">
              <a:alpha val="9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73152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8595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scaling plateau after K=20?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11521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exp_extended_scaling.py — K up to 200, ±1σ confidence bands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92240" y="969264"/>
            <a:ext cx="2286000" cy="347472"/>
          </a:xfrm>
          <a:prstGeom prst="rect">
            <a:avLst/>
          </a:prstGeom>
          <a:solidFill>
            <a:srgbClr val="3B5BDB">
              <a:alpha val="25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969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coded 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8595360" cy="731520"/>
          </a:xfrm>
          <a:prstGeom prst="rect">
            <a:avLst/>
          </a:prstGeom>
          <a:solidFill>
            <a:srgbClr val="7048E8">
              <a:alpha val="9000"/>
            </a:srgbClr>
          </a:solidFill>
          <a:ln w="12700">
            <a:solidFill>
              <a:srgbClr val="7048E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45920"/>
            <a:ext cx="502920" cy="73152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459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682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natural-image diffusion baseline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197510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exp_natural_diffusion_comparison.py — DDPM-score + FFN on CBSD68, matched params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792224"/>
            <a:ext cx="2286000" cy="347472"/>
          </a:xfrm>
          <a:prstGeom prst="rect">
            <a:avLst/>
          </a:prstGeom>
          <a:solidFill>
            <a:srgbClr val="7048E8">
              <a:alpha val="25000"/>
            </a:srgbClr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922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coded 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8595360" cy="731520"/>
          </a:xfrm>
          <a:prstGeom prst="rect">
            <a:avLst/>
          </a:prstGeom>
          <a:solidFill>
            <a:srgbClr val="0CA678">
              <a:alpha val="9000"/>
            </a:srgbClr>
          </a:solidFill>
          <a:ln w="12700">
            <a:solidFill>
              <a:srgbClr val="0CA67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468880"/>
            <a:ext cx="502920" cy="73152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688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25054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MNIST — does this scale to color?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279806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exp_cifar10.py — 3-channel RGB, 48-dim KAN, K∈{1..50}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2615184"/>
            <a:ext cx="2286000" cy="347472"/>
          </a:xfrm>
          <a:prstGeom prst="rect">
            <a:avLst/>
          </a:prstGeom>
          <a:solidFill>
            <a:srgbClr val="0CA678">
              <a:alpha val="25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6151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coded 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8595360" cy="731520"/>
          </a:xfrm>
          <a:prstGeom prst="rect">
            <a:avLst/>
          </a:prstGeom>
          <a:solidFill>
            <a:srgbClr val="F59F00">
              <a:alpha val="9000"/>
            </a:srgbClr>
          </a:solidFill>
          <a:ln w="12700">
            <a:solidFill>
              <a:srgbClr val="F59F0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91840"/>
            <a:ext cx="502920" cy="7315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918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3284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absolute PSNR too low vs BM3D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8680" y="362102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section rewritten: explicitly states we play a different game (scaling slope, not absolute)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3438144"/>
            <a:ext cx="2286000" cy="347472"/>
          </a:xfrm>
          <a:prstGeom prst="rect">
            <a:avLst/>
          </a:prstGeom>
          <a:solidFill>
            <a:srgbClr val="F59F00">
              <a:alpha val="25000"/>
            </a:srgbClr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updated 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114800"/>
            <a:ext cx="8595360" cy="731520"/>
          </a:xfrm>
          <a:prstGeom prst="rect">
            <a:avLst/>
          </a:prstGeom>
          <a:solidFill>
            <a:srgbClr val="E64980">
              <a:alpha val="9000"/>
            </a:srgbClr>
          </a:solidFill>
          <a:ln w="12700">
            <a:solidFill>
              <a:srgbClr val="E64980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14800"/>
            <a:ext cx="502920" cy="731520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1148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" y="4151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"Grand unified theory" overclaim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68680" y="444398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1 reframed as algorithmic equivalence per-fixed-E. Not a causal unification.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92240" y="4261104"/>
            <a:ext cx="2286000" cy="347472"/>
          </a:xfrm>
          <a:prstGeom prst="rect">
            <a:avLst/>
          </a:prstGeom>
          <a:solidFill>
            <a:srgbClr val="E64980">
              <a:alpha val="25000"/>
            </a:srgbClr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261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updated ✓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Experiment 1: Extended K Scaling (K up to 200)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841248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41248"/>
            <a:ext cx="3108960" cy="37490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33872" y="914400"/>
            <a:ext cx="29626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33872" y="1133856"/>
            <a:ext cx="29626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range: </a:t>
            </a: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{1,2,3,5,7,10,15,20,30,50,75,100,150,200}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33872" y="1780674"/>
            <a:ext cx="29626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</a:t>
            </a: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±1σ over 3 independent noise realizations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33872" y="2340864"/>
            <a:ext cx="29626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</a:t>
            </a: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 x-axis — exposes scaling rate at large 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33872" y="2907792"/>
            <a:ext cx="29626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</a:t>
            </a: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improvement continues beyond K=20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33872" y="3459560"/>
            <a:ext cx="29626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Falsification: </a:t>
            </a: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PSNR(K=20→200) &lt; 1.0 dB OR non-monotone mean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4320" y="47548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Experiment 2: Matched-Parameter Diffusion on CBSD68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82296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22960"/>
            <a:ext cx="3017520" cy="1170432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822960"/>
            <a:ext cx="3017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06440" y="1133856"/>
            <a:ext cx="3017520" cy="7863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CBSD68 crops. K-scaling should transfer to full images. Primary claim.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06440" y="2121408"/>
            <a:ext cx="3017520" cy="1170432"/>
          </a:xfrm>
          <a:prstGeom prst="rect">
            <a:avLst/>
          </a:prstGeom>
          <a:solidFill>
            <a:srgbClr val="E64980">
              <a:alpha val="12000"/>
            </a:srgbClr>
          </a:solidFill>
          <a:ln w="12700">
            <a:solidFill>
              <a:srgbClr val="E649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06440" y="2121408"/>
            <a:ext cx="3017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DDPM-score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06440" y="2432304"/>
            <a:ext cx="3017520" cy="7863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score at fixed σ. Extra Langevin steps add variance. Should stay flat.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3419856"/>
            <a:ext cx="3017520" cy="1170432"/>
          </a:xfrm>
          <a:prstGeom prst="rect">
            <a:avLst/>
          </a:prstGeom>
          <a:solidFill>
            <a:srgbClr val="0CA678">
              <a:alpha val="12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06440" y="3419856"/>
            <a:ext cx="3017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FFN-DSM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06440" y="3730752"/>
            <a:ext cx="3017520" cy="7863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denoiser. Flat by design. Matched parameter count (~30-50K).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74320" y="484632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dashed lines above K=20 are projections. Run experiment to fill in real numbers.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Experiment 3: </a:t>
            </a:r>
            <a:r>
              <a:rPr 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Images (3-Channel RGB)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4572000" cy="2743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57200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Changes for CIFAR-10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252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n_channels: </a:t>
            </a:r>
            <a:r>
              <a:rPr lang="en-US" sz="11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(RGB)</a:t>
            </a: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(vs 1 (grayscale))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input dim: </a:t>
            </a:r>
            <a:r>
              <a:rPr lang="en-US" sz="11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 × 16 filters)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hidden: </a:t>
            </a:r>
            <a:r>
              <a:rPr lang="en-US" sz="11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[48, 16]</a:t>
            </a: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(deeper for higher dim)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</a:t>
            </a:r>
            <a:r>
              <a:rPr lang="en-US" sz="11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~42K</a:t>
            </a: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(vs 31K on MNIST)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6151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conv: </a:t>
            </a:r>
            <a:r>
              <a:rPr lang="en-US" sz="11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</a:t>
            </a: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(independent per R,G,B)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9626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sigma: </a:t>
            </a:r>
            <a:r>
              <a:rPr lang="en-US" sz="11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(same)</a:t>
            </a: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(direct comparison)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3101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range: </a:t>
            </a:r>
            <a:r>
              <a:rPr lang="en-US" sz="11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{1,2,5,10,20,50}</a:t>
            </a:r>
            <a:r>
              <a:rPr lang="en-US" sz="9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(detect saturation/diverge)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822960"/>
            <a:ext cx="3840480" cy="2743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Success Criteria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1234440"/>
            <a:ext cx="3657600" cy="676656"/>
          </a:xfrm>
          <a:prstGeom prst="rect">
            <a:avLst/>
          </a:prstGeom>
          <a:solidFill>
            <a:srgbClr val="0CA678">
              <a:alpha val="15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234440"/>
            <a:ext cx="3657600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
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ΔPSNR(K=1→20) ≥ 2.0 dB at σ=25/255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becomes PRIMARY result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2002536"/>
            <a:ext cx="3657600" cy="676656"/>
          </a:xfrm>
          <a:prstGeom prst="rect">
            <a:avLst/>
          </a:prstGeom>
          <a:solidFill>
            <a:srgbClr val="F59F00">
              <a:alpha val="15000"/>
            </a:srgbClr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002536"/>
            <a:ext cx="3657600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
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ΔPSNR 1.0–2.0 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add limitations 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2770632"/>
            <a:ext cx="3657600" cy="676656"/>
          </a:xfrm>
          <a:prstGeom prst="rect">
            <a:avLst/>
          </a:prstGeom>
          <a:solidFill>
            <a:srgbClr val="E64980">
              <a:alpha val="15000"/>
            </a:srgbClr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770632"/>
            <a:ext cx="3657600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
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ΔPSNR &lt; 1.0 dB OR non-monotone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stays primary; downgrade venue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859536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490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trained identically on CIFAR-10: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(48-dim, 42K params) · MLP-EBM (same bank, MLP head, 45K params) · FFN-DSM (flat baseline, 512-wide, matched params)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Experiments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yet to run · Registered claims · The bigger vision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Claims (A1–A6): Thresholds Locked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4160520" cy="1207008"/>
          </a:xfrm>
          <a:prstGeom prst="rect">
            <a:avLst/>
          </a:prstGeom>
          <a:solidFill>
            <a:srgbClr val="3B5BDB">
              <a:alpha val="9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8778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A1: CIFAR-10 K-scaling (GATING)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12252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ΔPSNR ≥ 2.0 dB at σ=25/255, K=1→20, monotone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08960" y="162763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627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4160520" cy="1207008"/>
          </a:xfrm>
          <a:prstGeom prst="rect">
            <a:avLst/>
          </a:prstGeom>
          <a:solidFill>
            <a:srgbClr val="7048E8">
              <a:alpha val="9000"/>
            </a:srgbClr>
          </a:solidFill>
          <a:ln w="12700">
            <a:solidFill>
              <a:srgbClr val="704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2037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A2: MLP-EBM divergence on CIFAR-10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5511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MLP-EBM ΔPSNR ≤ 0.5 dB K=1→20 (KAN necessary)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29535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953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493008"/>
            <a:ext cx="4160520" cy="1207008"/>
          </a:xfrm>
          <a:prstGeom prst="rect">
            <a:avLst/>
          </a:prstGeom>
          <a:solidFill>
            <a:srgbClr val="0CA678">
              <a:alpha val="9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" y="35295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A3: Flow-matching head-to-head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387705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∃K*≤20 where KAN-EBM ≥ FM-small, gap widens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0" y="42793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4279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841248"/>
            <a:ext cx="4160520" cy="1207008"/>
          </a:xfrm>
          <a:prstGeom prst="rect">
            <a:avLst/>
          </a:prstGeom>
          <a:solidFill>
            <a:srgbClr val="F59F00">
              <a:alpha val="9000"/>
            </a:srgbClr>
          </a:solidFill>
          <a:ln w="12700">
            <a:solidFill>
              <a:srgbClr val="F59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90872" y="8778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A4: Inverse-problem transfer (CIFAR inpainting, SR)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90872" y="12252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Inpainting ΔPSNR ≥ 3.0 dB at 50% mask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52360" y="162763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1627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2167128"/>
            <a:ext cx="4160520" cy="1207008"/>
          </a:xfrm>
          <a:prstGeom prst="rect">
            <a:avLst/>
          </a:prstGeom>
          <a:solidFill>
            <a:srgbClr val="E64980">
              <a:alpha val="9000"/>
            </a:srgbClr>
          </a:solidFill>
          <a:ln w="12700">
            <a:solidFill>
              <a:srgbClr val="E649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90872" y="22037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A5: OOD detection via E_θ(x)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90872" y="25511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≥ 0.85 on SVHN vs CIFAR-10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52360" y="295351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953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3493008"/>
            <a:ext cx="4160520" cy="1207008"/>
          </a:xfrm>
          <a:prstGeom prst="rect">
            <a:avLst/>
          </a:prstGeom>
          <a:solidFill>
            <a:srgbClr val="64748B">
              <a:alpha val="9000"/>
            </a:srgbClr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90872" y="35295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A6: Score alignment on CIFAR-10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90872" y="387705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 similarity ≥ 0.90 at σ=25/255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52360" y="42793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4279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2803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REGISTERED_CLAIMS.md v1.0 — thresholds locked April 19, 2026. No post-hoc tuning.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Vision: From Perception to Zero-Shot Planning (WaveBrain)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41248"/>
            <a:ext cx="1993392" cy="3246120"/>
          </a:xfrm>
          <a:prstGeom prst="rect">
            <a:avLst/>
          </a:prstGeom>
          <a:solidFill>
            <a:srgbClr val="3B5BDB">
              <a:alpha val="16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4124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993392" cy="292608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" y="117043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" y="1591056"/>
            <a:ext cx="1883664" cy="12984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KAN-EBM on denoising.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potential V(u) where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"clean image" = minimum energy.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907792"/>
            <a:ext cx="1828800" cy="228600"/>
          </a:xfrm>
          <a:prstGeom prst="rect">
            <a:avLst/>
          </a:prstGeom>
          <a:solidFill>
            <a:srgbClr val="3B5BDB">
              <a:alpha val="40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07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841248"/>
            <a:ext cx="1993392" cy="3246120"/>
          </a:xfrm>
          <a:prstGeom prst="rect">
            <a:avLst/>
          </a:prstGeom>
          <a:solidFill>
            <a:srgbClr val="7048E8">
              <a:alpha val="16000"/>
            </a:srgbClr>
          </a:solidFill>
          <a:ln w="12700">
            <a:solidFill>
              <a:srgbClr val="704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84124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841248"/>
            <a:ext cx="1993392" cy="292608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84124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23744" y="117043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Transfer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23744" y="1591056"/>
            <a:ext cx="1883664" cy="12984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trained denoising energy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Eikonal solver as refractive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n(x) = E(x).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2907792"/>
            <a:ext cx="1828800" cy="228600"/>
          </a:xfrm>
          <a:prstGeom prst="rect">
            <a:avLst/>
          </a:prstGeom>
          <a:solidFill>
            <a:srgbClr val="7048E8">
              <a:alpha val="40000"/>
            </a:srgbClr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907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DESIGN PHASE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841248"/>
            <a:ext cx="1993392" cy="3246120"/>
          </a:xfrm>
          <a:prstGeom prst="rect">
            <a:avLst/>
          </a:prstGeom>
          <a:solidFill>
            <a:srgbClr val="F59F00">
              <a:alpha val="16000"/>
            </a:srgbClr>
          </a:solidFill>
          <a:ln w="12700">
            <a:solidFill>
              <a:srgbClr val="F59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84124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841248"/>
            <a:ext cx="1993392" cy="292608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84124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72584" y="117043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72584" y="1591056"/>
            <a:ext cx="1883664" cy="12984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only to denoise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geometric common sense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navigate a maze it never saw.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907792"/>
            <a:ext cx="1828800" cy="228600"/>
          </a:xfrm>
          <a:prstGeom prst="rect">
            <a:avLst/>
          </a:prstGeom>
          <a:solidFill>
            <a:srgbClr val="F59F00">
              <a:alpha val="40000"/>
            </a:srgbClr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07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PLANNED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66560" y="841248"/>
            <a:ext cx="1993392" cy="3246120"/>
          </a:xfrm>
          <a:prstGeom prst="rect">
            <a:avLst/>
          </a:prstGeom>
          <a:solidFill>
            <a:srgbClr val="0CA678">
              <a:alpha val="16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84124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841248"/>
            <a:ext cx="1993392" cy="292608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84124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21424" y="117043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Proof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21424" y="1591056"/>
            <a:ext cx="1883664" cy="12984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WaveBrain vs fully-trained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CNN. WaveBrain should generalize;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fails on larger mazes.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0" y="2907792"/>
            <a:ext cx="1828800" cy="228600"/>
          </a:xfrm>
          <a:prstGeom prst="rect">
            <a:avLst/>
          </a:prstGeom>
          <a:solidFill>
            <a:srgbClr val="0CA678">
              <a:alpha val="40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907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PLANNED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224528"/>
            <a:ext cx="8449056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NOTE: WaveBrain Phase 1 training failed — CNN predicted negative time, WaveBrain ignored walls. Fix: Softplus constraint + Jumpstart Curriculum (pretrain encoder on MSE before Eikonal loss). Under active redesign.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Picture: KAN-EBMs in the AI Compute Landscape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3931920" cy="3291840"/>
          </a:xfrm>
          <a:prstGeom prst="rect">
            <a:avLst/>
          </a:prstGeom>
          <a:solidFill>
            <a:srgbClr val="333333">
              <a:alpha val="9000"/>
            </a:srgbClr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393192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 (LLMs)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124358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Trillions of parameters as blurry JPEG of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60934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Memory-bound (HBM bottleneck)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97510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forward pass, fixed cost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34086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Excels at: memorization, trivia, syntax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70662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adapt quality to compute budget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07238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8× H100s just to hold weights in VRAM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331720"/>
            <a:ext cx="548640" cy="27432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841248"/>
            <a:ext cx="3931920" cy="3291840"/>
          </a:xfrm>
          <a:prstGeom prst="rect">
            <a:avLst/>
          </a:prstGeom>
          <a:solidFill>
            <a:srgbClr val="0D1B4B">
              <a:alpha val="12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41248"/>
            <a:ext cx="393192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 (KAN-EBM)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47488" y="124358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31K parameters as pure reasoning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47488" y="160934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Compute-bound (sequential, no memory wall)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7488" y="197510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steps = K units of inference compute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47488" y="234086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Excels at: manifold learning, physics, rules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47488" y="270662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dial: PSNR improves with K linearly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7488" y="3072384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Fits in L1 cache — eliminates memory wall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42816"/>
            <a:ext cx="8595360" cy="566928"/>
          </a:xfrm>
          <a:prstGeom prst="rect">
            <a:avLst/>
          </a:prstGeom>
          <a:solidFill>
            <a:srgbClr val="3B5BDB">
              <a:alpha val="15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261104"/>
            <a:ext cx="8449056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hardware: SPUs (Spline Processing Units) — chips designed for low-memory, high-ALU, sequential optimization. KAN-EBMs plant the seed for post-memory-wall AI.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NeurIPS 2026: What Remains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3B5BDB">
              <a:alpha val="80000"/>
            </a:srgbClr>
          </a:solidFill>
          <a:ln w="12700">
            <a:solidFill>
              <a:srgbClr val="3B5BD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41248"/>
            <a:ext cx="4160520" cy="548640"/>
          </a:xfrm>
          <a:prstGeom prst="rect">
            <a:avLst/>
          </a:prstGeom>
          <a:solidFill>
            <a:srgbClr val="0CA678">
              <a:alpha val="12000"/>
            </a:srgbClr>
          </a:solidFill>
          <a:ln w="12700">
            <a:solidFill>
              <a:srgbClr val="0CA67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41248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0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[DONE]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code bugs fixed in exp_interpretability.py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548640"/>
          </a:xfrm>
          <a:prstGeom prst="rect">
            <a:avLst/>
          </a:prstGeom>
          <a:solidFill>
            <a:srgbClr val="0CA678">
              <a:alpha val="12000"/>
            </a:srgbClr>
          </a:solidFill>
          <a:ln w="12700">
            <a:solidFill>
              <a:srgbClr val="0CA67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08760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0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[DONE]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Paper.tex at 1,214 lines with all sections + figures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4160520" cy="548640"/>
          </a:xfrm>
          <a:prstGeom prst="rect">
            <a:avLst/>
          </a:prstGeom>
          <a:solidFill>
            <a:srgbClr val="0CA678">
              <a:alpha val="12000"/>
            </a:srgbClr>
          </a:solidFill>
          <a:ln w="12700">
            <a:solidFill>
              <a:srgbClr val="0CA67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176272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0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[DONE]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25-slide presentation (existing deck)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843784"/>
            <a:ext cx="4160520" cy="548640"/>
          </a:xfrm>
          <a:prstGeom prst="rect">
            <a:avLst/>
          </a:prstGeom>
          <a:solidFill>
            <a:srgbClr val="0CA678">
              <a:alpha val="12000"/>
            </a:srgbClr>
          </a:solidFill>
          <a:ln w="12700">
            <a:solidFill>
              <a:srgbClr val="0CA67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843784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0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[DONE]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response experiments coded (3 scripts)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511296"/>
            <a:ext cx="4160520" cy="548640"/>
          </a:xfrm>
          <a:prstGeom prst="rect">
            <a:avLst/>
          </a:prstGeom>
          <a:solidFill>
            <a:srgbClr val="0CA678">
              <a:alpha val="12000"/>
            </a:srgbClr>
          </a:solidFill>
          <a:ln w="12700">
            <a:solidFill>
              <a:srgbClr val="0CA67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511296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0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[DONE]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claims locked in REGISTERED_CLAIMS.md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4178808"/>
            <a:ext cx="4160520" cy="548640"/>
          </a:xfrm>
          <a:prstGeom prst="rect">
            <a:avLst/>
          </a:prstGeom>
          <a:solidFill>
            <a:srgbClr val="F59F00">
              <a:alpha val="12000"/>
            </a:srgbClr>
          </a:solidFill>
          <a:ln w="12700">
            <a:solidFill>
              <a:srgbClr val="F59F0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178808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</a:t>
            </a:r>
            <a:r>
              <a:rPr lang="en-US" sz="10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[RUNNING]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exp_extended_scaling.py — K up to 200 on MNIST (~20 min/GPU)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841248"/>
            <a:ext cx="4160520" cy="548640"/>
          </a:xfrm>
          <a:prstGeom prst="rect">
            <a:avLst/>
          </a:prstGeom>
          <a:solidFill>
            <a:srgbClr val="F59F00">
              <a:alpha val="12000"/>
            </a:srgbClr>
          </a:solidFill>
          <a:ln w="12700">
            <a:solidFill>
              <a:srgbClr val="F59F0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841248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</a:t>
            </a:r>
            <a:r>
              <a:rPr lang="en-US" sz="10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[RUNNING]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exp_natural_diffusion_comparison.py — CBSD68 (~45 min/GPU)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4160520" cy="548640"/>
          </a:xfrm>
          <a:prstGeom prst="rect">
            <a:avLst/>
          </a:prstGeom>
          <a:solidFill>
            <a:srgbClr val="F59F00">
              <a:alpha val="12000"/>
            </a:srgbClr>
          </a:solidFill>
          <a:ln w="12700">
            <a:solidFill>
              <a:srgbClr val="F59F0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508760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</a:t>
            </a:r>
            <a:r>
              <a:rPr lang="en-US" sz="10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[RUNNING]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exp_cifar10.py — 3-channel color denoising (~60 min/GPU)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176272"/>
            <a:ext cx="4160520" cy="548640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176272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</a:t>
            </a:r>
            <a:r>
              <a:rPr lang="en-US" sz="10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[NEXT]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all 9 interpretability figures from bug-fixed model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843784"/>
            <a:ext cx="4160520" cy="548640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843784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</a:t>
            </a:r>
            <a:r>
              <a:rPr lang="en-US" sz="10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[NEXT]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result tables from outputs/ into paper.tex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511296"/>
            <a:ext cx="4160520" cy="548640"/>
          </a:xfrm>
          <a:prstGeom prst="rect">
            <a:avLst/>
          </a:prstGeom>
          <a:solidFill>
            <a:srgbClr val="7048E8">
              <a:alpha val="12000"/>
            </a:srgbClr>
          </a:solidFill>
          <a:ln w="12700">
            <a:solidFill>
              <a:srgbClr val="7048E8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511296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</a:t>
            </a:r>
            <a:r>
              <a:rPr lang="en-US" sz="105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[NEXT]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Flow-matching baseline (exp A3, ~2 days compute)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4178808"/>
            <a:ext cx="4160520" cy="548640"/>
          </a:xfrm>
          <a:prstGeom prst="rect">
            <a:avLst/>
          </a:prstGeom>
          <a:solidFill>
            <a:srgbClr val="64748B">
              <a:alpha val="12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4178808"/>
            <a:ext cx="40233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</a:t>
            </a: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[FUTURE] </a:t>
            </a: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WaveBrain zero-shot planning (Paper 3, redesigned)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37360"/>
            <a:ext cx="9144000" cy="16916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· Discussion · What to run next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2011680" cy="1920240"/>
          </a:xfrm>
          <a:prstGeom prst="rect">
            <a:avLst/>
          </a:prstGeom>
          <a:solidFill>
            <a:srgbClr val="3B5BDB">
              <a:alpha val="20000"/>
            </a:srgbClr>
          </a:solidFill>
          <a:ln w="12700">
            <a:solidFill>
              <a:srgbClr val="3B5B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145536"/>
            <a:ext cx="2011680" cy="14447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bank → Precision Π → tanh → KAN → E(u). 31K params.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2743200"/>
            <a:ext cx="2011680" cy="1920240"/>
          </a:xfrm>
          <a:prstGeom prst="rect">
            <a:avLst/>
          </a:prstGeom>
          <a:solidFill>
            <a:srgbClr val="0CA678">
              <a:alpha val="20000"/>
            </a:srgbClr>
          </a:solidFill>
          <a:ln w="12700">
            <a:solidFill>
              <a:srgbClr val="0CA6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145536"/>
            <a:ext cx="2011680" cy="14447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 dB MNIST · +3.3 dB CBSD68 · cos=1.000 · 7.3×10⁸× symplectic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2011680" cy="1920240"/>
          </a:xfrm>
          <a:prstGeom prst="rect">
            <a:avLst/>
          </a:prstGeom>
          <a:solidFill>
            <a:srgbClr val="F59F00">
              <a:alpha val="20000"/>
            </a:srgbClr>
          </a:solidFill>
          <a:ln w="12700">
            <a:solidFill>
              <a:srgbClr val="F59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3145536"/>
            <a:ext cx="2011680" cy="14447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 reality acknowledged · False claims stripped · 3 bugs fixed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2743200"/>
            <a:ext cx="2011680" cy="1920240"/>
          </a:xfrm>
          <a:prstGeom prst="rect">
            <a:avLst/>
          </a:prstGeom>
          <a:solidFill>
            <a:srgbClr val="7048E8">
              <a:alpha val="20000"/>
            </a:srgbClr>
          </a:solidFill>
          <a:ln w="12700">
            <a:solidFill>
              <a:srgbClr val="704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145536"/>
            <a:ext cx="2011680" cy="14447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K→200 · CBSD68 diffusion · CIFAR-10 · Flow-matching · WaveBrain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Hafez Khatib · AUB · hafezkhatib.2002@gmail.com · NeurIPS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3326</Words>
  <Application>Microsoft Office PowerPoint</Application>
  <PresentationFormat>On-screen Show (16:9)</PresentationFormat>
  <Paragraphs>512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KAN-EBM: Full Research Update</dc:title>
  <dc:subject>PptxGenJS Presentation</dc:subject>
  <dc:creator>PptxGenJS</dc:creator>
  <cp:lastModifiedBy>Microsoft account</cp:lastModifiedBy>
  <cp:revision>4</cp:revision>
  <dcterms:created xsi:type="dcterms:W3CDTF">2026-04-23T23:16:40Z</dcterms:created>
  <dcterms:modified xsi:type="dcterms:W3CDTF">2026-04-23T23:49:05Z</dcterms:modified>
</cp:coreProperties>
</file>