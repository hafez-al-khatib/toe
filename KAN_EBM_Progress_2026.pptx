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3601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800" b="1" i="0">
                <a:solidFill>
                  <a:srgbClr val="00B4D8"/>
                </a:solidFill>
              </a:rPr>
              <a:t>KAN-EBM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1036015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Kolmogorov-Arnold Networks as Learnable Energy Functions
for Test-Time Compute Scaling in Inverse Problems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0" y="3108960"/>
            <a:ext cx="4873752" cy="36576"/>
          </a:xfrm>
          <a:prstGeom prst="rect">
            <a:avLst/>
          </a:prstGeom>
          <a:solidFill>
            <a:srgbClr val="F7B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246120"/>
            <a:ext cx="103601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D0E8F2"/>
                </a:solidFill>
              </a:rPr>
              <a:t>Hafez Khatib  ·  American University of Beirut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703320"/>
            <a:ext cx="10360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5A6A7A"/>
                </a:solidFill>
              </a:rPr>
              <a:t>Supervisor Progress Meeting  ·  April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4983480"/>
            <a:ext cx="2560320" cy="685800"/>
          </a:xfrm>
          <a:prstGeom prst="rect">
            <a:avLst/>
          </a:prstGeom>
          <a:solidFill>
            <a:srgbClr val="162A3C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5029200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A6A7A"/>
                </a:solidFill>
              </a:rPr>
              <a:t>Target Venue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285232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7B500"/>
                </a:solidFill>
              </a:rPr>
              <a:t>NeurIPS 2026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37560" y="4983480"/>
            <a:ext cx="2560320" cy="685800"/>
          </a:xfrm>
          <a:prstGeom prst="rect">
            <a:avLst/>
          </a:prstGeom>
          <a:solidFill>
            <a:srgbClr val="162A3C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29000" y="5029200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A6A7A"/>
                </a:solidFill>
              </a:rPr>
              <a:t>Stage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5285232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7B500"/>
                </a:solidFill>
              </a:rPr>
              <a:t>Pre-submission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4983480"/>
            <a:ext cx="2560320" cy="685800"/>
          </a:xfrm>
          <a:prstGeom prst="rect">
            <a:avLst/>
          </a:prstGeom>
          <a:solidFill>
            <a:srgbClr val="162A3C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5029200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A6A7A"/>
                </a:solidFill>
              </a:rPr>
              <a:t>Experiments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5285232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7B500"/>
                </a:solidFill>
              </a:rPr>
              <a:t>Complete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15400" y="4983480"/>
            <a:ext cx="2560320" cy="685800"/>
          </a:xfrm>
          <a:prstGeom prst="rect">
            <a:avLst/>
          </a:prstGeom>
          <a:solidFill>
            <a:srgbClr val="162A3C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06840" y="5029200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A6A7A"/>
                </a:solidFill>
              </a:rPr>
              <a:t>Paper draft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06840" y="5285232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7B500"/>
                </a:solidFill>
              </a:rPr>
              <a:t>v3 (rewritten)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D1B2A"/>
                </a:solidFill>
              </a:rPr>
              <a:t>Today's 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87552"/>
            <a:ext cx="121889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5577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D0E8F2"/>
                </a:solidFill>
              </a:rPr>
              <a:t>1.  Motivation &amp; Problem Setup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19656"/>
            <a:ext cx="5577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D0E8F2"/>
                </a:solidFill>
              </a:rPr>
              <a:t>2.  KAN-EBM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96312"/>
            <a:ext cx="5577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D0E8F2"/>
                </a:solidFill>
              </a:rPr>
              <a:t>3.  Theoretical Grounding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172968"/>
            <a:ext cx="5577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D0E8F2"/>
                </a:solidFill>
              </a:rPr>
              <a:t>4.  Headline Result: Parameter–Compute Pareto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849624"/>
            <a:ext cx="5577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D0E8F2"/>
                </a:solidFill>
              </a:rPr>
              <a:t>5.  CelebA Fair-Baseline Experiment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26280"/>
            <a:ext cx="5577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D0E8F2"/>
                </a:solidFill>
              </a:rPr>
              <a:t>6.  The K*(σ) Scaling Law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202936"/>
            <a:ext cx="5577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D0E8F2"/>
                </a:solidFill>
              </a:rPr>
              <a:t>7.  Four-Predictor Comparison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1143000"/>
            <a:ext cx="5577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D0E8F2"/>
                </a:solidFill>
              </a:rPr>
              <a:t>8.  Cross-Validation (CIFAR-10 vs. CelebA)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1819656"/>
            <a:ext cx="5577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D0E8F2"/>
                </a:solidFill>
              </a:rPr>
              <a:t>9.  Architectural Invariance Ablations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2496312"/>
            <a:ext cx="5577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D0E8F2"/>
                </a:solidFill>
              </a:rPr>
              <a:t>10. Falsifiable Boundary: Deblurring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3172968"/>
            <a:ext cx="5577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D0E8F2"/>
                </a:solidFill>
              </a:rPr>
              <a:t>11. Multi-Task Restoration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3849624"/>
            <a:ext cx="5577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D0E8F2"/>
                </a:solidFill>
              </a:rPr>
              <a:t>12. Honest SOTA Comparison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4526280"/>
            <a:ext cx="5577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D0E8F2"/>
                </a:solidFill>
              </a:rPr>
              <a:t>13. NeurIPS / PhD Assessment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5202936"/>
            <a:ext cx="5577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D0E8F2"/>
                </a:solidFill>
              </a:rPr>
              <a:t>14. Open Problems &amp; Next Steps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35040" y="1005840"/>
            <a:ext cx="45720" cy="51206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D1B2A"/>
                </a:solidFill>
              </a:rPr>
              <a:t>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2179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0D1B2A"/>
                </a:solidFill>
              </a:rPr>
              <a:t>The gap in the test-time compute story for vision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87552"/>
            <a:ext cx="121889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7B500"/>
                </a:solidFill>
              </a:rPr>
              <a:t>The core tension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44752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D0E8F2"/>
                </a:solidFill>
              </a:rPr>
              <a:t>Large diffusion models scale test-time compute at the cost of billions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92224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D0E8F2"/>
                </a:solidFill>
              </a:rPr>
              <a:t>of parameters. Tiny convolutional denoisers are cheap but fixed.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39696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D0E8F2"/>
                </a:solidFill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487168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7B500"/>
                </a:solidFill>
              </a:rPr>
              <a:t>The open question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83464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D0E8F2"/>
                </a:solidFill>
              </a:rPr>
              <a:t>Can a small energy-based model (&lt;100 K params) perform iterative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182112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D0E8F2"/>
                </a:solidFill>
              </a:rPr>
              <a:t>Langevin refinement that provably improves with more steps—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529584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D0E8F2"/>
                </a:solidFill>
              </a:rPr>
              <a:t>and can we predict in advance how many steps to run?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0" y="1097280"/>
            <a:ext cx="4160520" cy="5212080"/>
          </a:xfrm>
          <a:prstGeom prst="rect">
            <a:avLst/>
          </a:prstGeom>
          <a:solidFill>
            <a:srgbClr val="162A3C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5279" y="118872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B4D8"/>
                </a:solidFill>
              </a:rPr>
              <a:t>Gaps in the literature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79" y="1600200"/>
            <a:ext cx="3794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E74C3C"/>
                </a:solidFill>
              </a:rPr>
              <a:t>  ✗  EBMs tested on synthesis, not restoration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79" y="1947672"/>
            <a:ext cx="3794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E74C3C"/>
                </a:solidFill>
              </a:rPr>
              <a:t>  ✗  No parameter-efficiency Pareto frontier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79" y="2295144"/>
            <a:ext cx="3794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E74C3C"/>
                </a:solidFill>
              </a:rPr>
              <a:t>  ✗  No adaptive stopping rule for iterative refinement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79" y="2642616"/>
            <a:ext cx="3794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E74C3C"/>
                </a:solidFill>
              </a:rPr>
              <a:t>  ✗  KANs unexplored as energy parameterisers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79" y="2990088"/>
            <a:ext cx="3794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79" y="3337560"/>
            <a:ext cx="3794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2ECC71"/>
                </a:solidFill>
              </a:rPr>
              <a:t>Our answers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55279" y="3685032"/>
            <a:ext cx="3794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ECC71"/>
                </a:solidFill>
              </a:rPr>
              <a:t>  ✓  KAN splines → interpretable, smooth energy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55279" y="4032504"/>
            <a:ext cx="3794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ECC71"/>
                </a:solidFill>
              </a:rPr>
              <a:t>  ✓  Pareto frontier at 5K–110K params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55279" y="4379976"/>
            <a:ext cx="3794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ECC71"/>
                </a:solidFill>
              </a:rPr>
              <a:t>  ✓  K*(σ) law gives adaptive stopping (R²=0.98)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D1B2A"/>
                </a:solidFill>
              </a:rPr>
              <a:t>KAN-EBM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2179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0D1B2A"/>
                </a:solidFill>
              </a:rPr>
              <a:t>B-spline KAN as the energy function E_θ(x)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87552"/>
            <a:ext cx="121889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143000"/>
            <a:ext cx="1920240" cy="1005840"/>
          </a:xfrm>
          <a:prstGeom prst="rect">
            <a:avLst/>
          </a:prstGeom>
          <a:solidFill>
            <a:srgbClr val="0D1B2A"/>
          </a:solidFill>
          <a:ln w="254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737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Input x
(noisy image)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31720" y="15544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B4D8"/>
                </a:solidFill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2560320" y="1143000"/>
            <a:ext cx="1920240" cy="1005840"/>
          </a:xfrm>
          <a:prstGeom prst="rect">
            <a:avLst/>
          </a:prstGeom>
          <a:solidFill>
            <a:srgbClr val="0D1B2A"/>
          </a:solidFill>
          <a:ln w="254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51760" y="1234440"/>
            <a:ext cx="1737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Conv Filter Bank
16 filters 3×3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15544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B4D8"/>
                </a:solidFill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54880" y="1143000"/>
            <a:ext cx="1920240" cy="1005840"/>
          </a:xfrm>
          <a:prstGeom prst="rect">
            <a:avLst/>
          </a:prstGeom>
          <a:solidFill>
            <a:srgbClr val="162A3C"/>
          </a:solidFill>
          <a:ln w="25400">
            <a:solidFill>
              <a:srgbClr val="F7B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46320" y="1234440"/>
            <a:ext cx="1737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7B500"/>
                </a:solidFill>
              </a:rPr>
              <a:t>B-Spline KAN
Hidden [48, 16]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0840" y="15544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B4D8"/>
                </a:solidFill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949440" y="1143000"/>
            <a:ext cx="1920240" cy="1005840"/>
          </a:xfrm>
          <a:prstGeom prst="rect">
            <a:avLst/>
          </a:prstGeom>
          <a:solidFill>
            <a:srgbClr val="0D1B2A"/>
          </a:solidFill>
          <a:ln w="254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40880" y="1234440"/>
            <a:ext cx="1737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Scalar Energy
E_θ(x) ∈ 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15400" y="15544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B4D8"/>
                </a:solidFill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0" y="1143000"/>
            <a:ext cx="1920240" cy="1005840"/>
          </a:xfrm>
          <a:prstGeom prst="rect">
            <a:avLst/>
          </a:prstGeom>
          <a:solidFill>
            <a:srgbClr val="0D1B2A"/>
          </a:solidFill>
          <a:ln w="254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35440" y="1234440"/>
            <a:ext cx="1737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Score: −∇_x E_θ
Langevin step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2423160"/>
            <a:ext cx="5486400" cy="4114800"/>
          </a:xfrm>
          <a:prstGeom prst="rect">
            <a:avLst/>
          </a:prstGeom>
          <a:solidFill>
            <a:srgbClr val="162A3C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248716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</a:rPr>
              <a:t>B-Spline KAN — key equations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285292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E8F2"/>
                </a:solidFill>
              </a:rPr>
              <a:t>φ_{l,i,j}(x) = Σ_k  c_{k}  B_{k,p}(x)        (learnable spline)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31912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E8F2"/>
                </a:solidFill>
              </a:rPr>
              <a:t>x_{l+1,j} = Σ_i  φ_{l,i,j}(x_{l,i})           (layer map)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35295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E8F2"/>
                </a:solidFill>
              </a:rPr>
              <a:t>E_θ(x) = KAN( conv_features(x) )               (scalar energy)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386791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E8F2"/>
                </a:solidFill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420624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E8F2"/>
                </a:solidFill>
              </a:rPr>
              <a:t>Training:  DSM loss  ℒ = E[‖s_θ(x̃)−∇logp(x̃|x)‖²]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454456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E8F2"/>
                </a:solidFill>
              </a:rPr>
              <a:t>           with create_graph=True  (exact score via autograd)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488289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E8F2"/>
                </a:solidFill>
              </a:rPr>
              <a:t/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522122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E8F2"/>
                </a:solidFill>
              </a:rPr>
              <a:t>Inference: x_{t+1} = x_t − η∇_xE_θ(x_t) + √(2η)ε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555955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E8F2"/>
                </a:solidFill>
              </a:rPr>
              <a:t>           Run K steps  →  K is the inference budget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26480" y="2423160"/>
            <a:ext cx="5760720" cy="4114800"/>
          </a:xfrm>
          <a:prstGeom prst="rect">
            <a:avLst/>
          </a:prstGeom>
          <a:solidFill>
            <a:srgbClr val="162A3C"/>
          </a:solidFill>
          <a:ln w="12700">
            <a:solidFill>
              <a:srgbClr val="F7B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63640" y="2487168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7B500"/>
                </a:solidFill>
              </a:rPr>
              <a:t>Why KANs over MLPs?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60" y="2852928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E8F2"/>
                </a:solidFill>
              </a:rPr>
              <a:t>Spline edges are smooth by construction →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9360" y="3191256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B4D8"/>
                </a:solidFill>
              </a:rPr>
              <a:t>  energy landscape is C^p continuous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09360" y="3529584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E8F2"/>
                </a:solidFill>
              </a:rPr>
              <a:t>Universal approximation with fewer parameters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09360" y="3867912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A6A7A"/>
                </a:solidFill>
              </a:rPr>
              <a:t>  (KAT 2024, KAEM 2024)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09360" y="420624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E8F2"/>
                </a:solidFill>
              </a:rPr>
              <a:t>Learnable basis functions vs. fixed activations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09360" y="4544568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B4D8"/>
                </a:solidFill>
              </a:rPr>
              <a:t>  → more expressive per parameter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09360" y="4882896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E8F2"/>
                </a:solidFill>
              </a:rPr>
              <a:t>Interpretable: visualise each φ_{i,j}(·)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09360" y="5221224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B4D8"/>
                </a:solidFill>
              </a:rPr>
              <a:t>  to understand which features drive energy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09360" y="5559552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09360" y="589788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7B500"/>
                </a:solidFill>
              </a:rPr>
              <a:t>Parameter counts in this work: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09360" y="6236208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E8F2"/>
                </a:solidFill>
              </a:rPr>
              <a:t>  Tiny: 5,808    Small: 32K    Large: 110K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09360" y="6574536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A6A7A"/>
                </a:solidFill>
              </a:rPr>
              <a:t>  (all fit in on-chip SRAM of edge devices)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D1B2A"/>
                </a:solidFill>
              </a:rPr>
              <a:t>Theoretical Foundations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2179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0D1B2A"/>
                </a:solidFill>
              </a:rPr>
              <a:t>Three pillars connecting KAN-EBMs to physics and information theory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87552"/>
            <a:ext cx="121889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97280"/>
            <a:ext cx="3520440" cy="5394960"/>
          </a:xfrm>
          <a:prstGeom prst="rect">
            <a:avLst/>
          </a:prstGeom>
          <a:solidFill>
            <a:srgbClr val="162A3C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70432"/>
            <a:ext cx="3246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</a:rPr>
              <a:t>Allen-Cahn / Phase-Field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27632"/>
            <a:ext cx="3154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7B500"/>
                </a:solidFill>
              </a:rPr>
              <a:t>Energy functional: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975104"/>
            <a:ext cx="3154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00B4D8"/>
                </a:solidFill>
              </a:rPr>
              <a:t>F[φ] = ∫[ε²|∇φ|² + W(φ)]dΩ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22576"/>
            <a:ext cx="3154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670048"/>
            <a:ext cx="3154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7B500"/>
                </a:solidFill>
              </a:rPr>
              <a:t>Gradient flow: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017520"/>
            <a:ext cx="3154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00B4D8"/>
                </a:solidFill>
              </a:rPr>
              <a:t>∂φ/∂t = −δF/δφ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364992"/>
            <a:ext cx="3154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712464"/>
            <a:ext cx="3154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D0E8F2"/>
                </a:solidFill>
              </a:rPr>
              <a:t>Langevin refinement is the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059936"/>
            <a:ext cx="3154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D0E8F2"/>
                </a:solidFill>
              </a:rPr>
              <a:t>stochastic discretisation of this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407408"/>
            <a:ext cx="3154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D0E8F2"/>
                </a:solidFill>
              </a:rPr>
              <a:t>PDE. KAN learns F_θ ≈ F.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60520" y="1097280"/>
            <a:ext cx="3520440" cy="5394960"/>
          </a:xfrm>
          <a:prstGeom prst="rect">
            <a:avLst/>
          </a:prstGeom>
          <a:solidFill>
            <a:srgbClr val="162A3C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97680" y="1170432"/>
            <a:ext cx="3246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</a:rPr>
              <a:t>Score Matching / DSM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1627632"/>
            <a:ext cx="3154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7B500"/>
                </a:solidFill>
              </a:rPr>
              <a:t>Score function: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43400" y="1975104"/>
            <a:ext cx="3154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00B4D8"/>
                </a:solidFill>
              </a:rPr>
              <a:t>s_θ(x) = −∇_x E_θ(x)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43400" y="2322576"/>
            <a:ext cx="3154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2670048"/>
            <a:ext cx="3154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7B500"/>
                </a:solidFill>
              </a:rPr>
              <a:t>DSM loss: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43400" y="3017520"/>
            <a:ext cx="3154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00B4D8"/>
                </a:solidFill>
              </a:rPr>
              <a:t>ℒ = E‖s_θ(x̃)−∇logp(x̃|x)‖²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43400" y="3364992"/>
            <a:ext cx="3154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43400" y="3712464"/>
            <a:ext cx="3154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D0E8F2"/>
                </a:solidFill>
              </a:rPr>
              <a:t>KAN's smooth splines make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43400" y="4059936"/>
            <a:ext cx="3154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D0E8F2"/>
                </a:solidFill>
              </a:rPr>
              <a:t>∇_x E_θ differentiable to high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43400" y="4407408"/>
            <a:ext cx="3154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D0E8F2"/>
                </a:solidFill>
              </a:rPr>
              <a:t>order → stable Langevin chains.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955279" y="1097280"/>
            <a:ext cx="3520440" cy="5394960"/>
          </a:xfrm>
          <a:prstGeom prst="rect">
            <a:avLst/>
          </a:prstGeom>
          <a:solidFill>
            <a:srgbClr val="162A3C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92439" y="1170432"/>
            <a:ext cx="3246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</a:rPr>
              <a:t>KAT Universality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38159" y="1627632"/>
            <a:ext cx="3154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7B500"/>
                </a:solidFill>
              </a:rPr>
              <a:t>KAT 2024 theorem: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38159" y="1975104"/>
            <a:ext cx="3154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00B4D8"/>
                </a:solidFill>
              </a:rPr>
              <a:t>Any L²(μ) function is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38159" y="2322576"/>
            <a:ext cx="3154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00B4D8"/>
                </a:solidFill>
              </a:rPr>
              <a:t>approx. by a KAN.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38159" y="2670048"/>
            <a:ext cx="3154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38159" y="3017520"/>
            <a:ext cx="3154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7B500"/>
                </a:solidFill>
              </a:rPr>
              <a:t>Implication: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38159" y="3364992"/>
            <a:ext cx="3154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D0E8F2"/>
                </a:solidFill>
              </a:rPr>
              <a:t>E_θ(x) can represent any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38159" y="3712464"/>
            <a:ext cx="3154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D0E8F2"/>
                </a:solidFill>
              </a:rPr>
              <a:t>smooth energy landscape,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38159" y="4059936"/>
            <a:ext cx="3154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D0E8F2"/>
                </a:solidFill>
              </a:rPr>
              <a:t>including the true log-density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38159" y="4407408"/>
            <a:ext cx="3154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D0E8F2"/>
                </a:solidFill>
              </a:rPr>
              <a:t>of natural image patches.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D1B2A"/>
                </a:solidFill>
              </a:rPr>
              <a:t>Headline Result: Parameter–Compute Pareto Frontier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2179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0D1B2A"/>
                </a:solidFill>
              </a:rPr>
              <a:t>KAN-EBM at 5K–110K parameters outperforms same-FLOP MLPs; log-linear Pareto spine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87552"/>
            <a:ext cx="121889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97280"/>
            <a:ext cx="2743200" cy="1234440"/>
          </a:xfrm>
          <a:prstGeom prst="rect">
            <a:avLst/>
          </a:prstGeom>
          <a:solidFill>
            <a:srgbClr val="162A3C"/>
          </a:solidFill>
          <a:ln w="254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70432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2ECC71"/>
                </a:solidFill>
              </a:rPr>
              <a:t>+6.83 dB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9164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0E8F2"/>
                </a:solidFill>
              </a:rPr>
              <a:t>CelebA-64 vs. MLP-EBM
(fair 30-epoch baseline)</a:t>
            </a:r>
          </a:p>
        </p:txBody>
      </p:sp>
      <p:sp>
        <p:nvSpPr>
          <p:cNvPr id="9" name="Rectangle 8"/>
          <p:cNvSpPr/>
          <p:nvPr/>
        </p:nvSpPr>
        <p:spPr>
          <a:xfrm>
            <a:off x="3310128" y="1097280"/>
            <a:ext cx="2743200" cy="1234440"/>
          </a:xfrm>
          <a:prstGeom prst="rect">
            <a:avLst/>
          </a:prstGeom>
          <a:solidFill>
            <a:srgbClr val="162A3C"/>
          </a:solidFill>
          <a:ln w="254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01568" y="1170432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2ECC71"/>
                </a:solidFill>
              </a:rPr>
              <a:t>+4.55 dB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01568" y="169164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0E8F2"/>
                </a:solidFill>
              </a:rPr>
              <a:t>CIFAR-10 vs. matched MLP
(K=15, σ=0.3)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54496" y="1097280"/>
            <a:ext cx="2743200" cy="1234440"/>
          </a:xfrm>
          <a:prstGeom prst="rect">
            <a:avLst/>
          </a:prstGeom>
          <a:solidFill>
            <a:srgbClr val="162A3C"/>
          </a:solidFill>
          <a:ln w="25400">
            <a:solidFill>
              <a:srgbClr val="F7B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45936" y="1170432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7B500"/>
                </a:solidFill>
              </a:rPr>
              <a:t>3.3×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45936" y="169164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0E8F2"/>
                </a:solidFill>
              </a:rPr>
              <a:t>Fewer parameters vs.
SmoothMLP at parity PSNR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98864" y="1097280"/>
            <a:ext cx="2743200" cy="1234440"/>
          </a:xfrm>
          <a:prstGeom prst="rect">
            <a:avLst/>
          </a:prstGeom>
          <a:solidFill>
            <a:srgbClr val="162A3C"/>
          </a:solidFill>
          <a:ln w="254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90304" y="1170432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E74C3C"/>
                </a:solidFill>
              </a:rPr>
              <a:t>~30×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90304" y="169164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0E8F2"/>
                </a:solidFill>
              </a:rPr>
              <a:t>Higher per-step FLOPs
(cost of iterative quality)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468880"/>
            <a:ext cx="5943600" cy="4114800"/>
          </a:xfrm>
          <a:prstGeom prst="rect">
            <a:avLst/>
          </a:prstGeom>
          <a:solidFill>
            <a:srgbClr val="162A3C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2542032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</a:rPr>
              <a:t>What the Pareto frontier shows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2944368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D0E8F2"/>
                </a:solidFill>
              </a:rPr>
              <a:t>•  X-axis: log₁₀(FLOPs per inference step)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264408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D0E8F2"/>
                </a:solidFill>
              </a:rPr>
              <a:t>•  Y-axis: peak PSNR achieved (best K)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3584448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D0E8F2"/>
                </a:solidFill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3904488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00B4D8"/>
                </a:solidFill>
              </a:rPr>
              <a:t>•  KAN-EBM forms a log-linear Pareto spine: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224528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D0E8F2"/>
                </a:solidFill>
              </a:rPr>
              <a:t>   each 10× FLOPs increase → +2 dB gain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544568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D0E8F2"/>
                </a:solidFill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4864608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E74C3C"/>
                </a:solidFill>
              </a:rPr>
              <a:t>•  MLP-EBM at same parameter count falls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5184648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D0E8F2"/>
                </a:solidFill>
              </a:rPr>
              <a:t>   strictly below the KAN-EBM curve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504688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D0E8F2"/>
                </a:solidFill>
              </a:rPr>
              <a:t/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5824728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D0E8F2"/>
                </a:solidFill>
              </a:rPr>
              <a:t>•  Bicubic / BM3D / DnCNN sit to the right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144768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D0E8F2"/>
                </a:solidFill>
              </a:rPr>
              <a:t>   (more FLOPs) at similar or worse PSNR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64808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D0E8F2"/>
                </a:solidFill>
              </a:rPr>
              <a:t/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784848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D0E8F2"/>
                </a:solidFill>
              </a:rPr>
              <a:t>•  Positioning: low-parameter corner of the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7104888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D0E8F2"/>
                </a:solidFill>
              </a:rPr>
              <a:t>   efficiency frontier — not SOTA in absolute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7424928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D0E8F2"/>
                </a:solidFill>
              </a:rPr>
              <a:t>   PSNR, but dominant below 100 K params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0" y="2468880"/>
            <a:ext cx="5303520" cy="4114800"/>
          </a:xfrm>
          <a:prstGeom prst="rect">
            <a:avLst/>
          </a:prstGeom>
          <a:solidFill>
            <a:srgbClr val="162A3C"/>
          </a:solidFill>
          <a:ln w="12700">
            <a:solidFill>
              <a:srgbClr val="F7B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720840" y="254203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7B500"/>
                </a:solidFill>
              </a:rPr>
              <a:t>Honest framing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0" y="294436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E8F2"/>
                </a:solidFill>
              </a:rPr>
              <a:t>We do NOT compete with billion-param diffusion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66560" y="326440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E8F2"/>
                </a:solidFill>
              </a:rPr>
              <a:t>models (DALL-E, Stable Diffusion, etc.)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66560" y="358444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66560" y="390448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E8F2"/>
                </a:solidFill>
              </a:rPr>
              <a:t>We do NOT claim state-of-the-art PSNR 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66560" y="422452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E8F2"/>
                </a:solidFill>
              </a:rPr>
              <a:t>ImageNet-1k or DIV2K benchmarks.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66560" y="454456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766560" y="486460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7B500"/>
                </a:solidFill>
              </a:rPr>
              <a:t>Our claim is narrowly scoped: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66560" y="518464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B4D8"/>
                </a:solidFill>
              </a:rPr>
              <a:t>  ≤110 K parameters + iterative inference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66560" y="550468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B4D8"/>
                </a:solidFill>
              </a:rPr>
              <a:t>  → log-linear PSNR scaling with K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66560" y="582472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B4D8"/>
                </a:solidFill>
              </a:rPr>
              <a:t>  → same result is unachievable by MLP-EBM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766560" y="614476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B4D8"/>
                </a:solidFill>
              </a:rPr>
              <a:t>  → predictable via K*(σ) law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766560" y="646480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766560" y="678484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E8F2"/>
                </a:solidFill>
              </a:rPr>
              <a:t>This is a wedge contribution: establish the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766560" y="710488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E8F2"/>
                </a:solidFill>
              </a:rPr>
              <a:t>feasibility and characterise the scaling law.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D1B2A"/>
                </a:solidFill>
              </a:rPr>
              <a:t>CelebA-64: Fair-Baseline Experiment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2179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0D1B2A"/>
                </a:solidFill>
              </a:rPr>
              <a:t>MLP retrained at 30 epochs (equal compute) — KAN still wins by +6.83 dB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87552"/>
            <a:ext cx="121889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D0E8F2"/>
                </a:solidFill>
              </a:rPr>
              <a:t>Previous draft had a confounded baseline: MLP trained for only 3 mini-epochs vs. KAN for 60 epochs.
Fix: SmoothMLPEBM retrained with identical hyperparameters for 30 full epochs (1408 s total). MLP plateaus at epoch 20.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965960"/>
            <a:ext cx="1965960" cy="347472"/>
          </a:xfrm>
          <a:prstGeom prst="rect">
            <a:avLst/>
          </a:prstGeom>
          <a:solidFill>
            <a:srgbClr val="00B4D8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993392"/>
            <a:ext cx="1874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B2A"/>
                </a:solidFill>
              </a:rPr>
              <a:t>Model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0" y="1965960"/>
            <a:ext cx="1051560" cy="347472"/>
          </a:xfrm>
          <a:prstGeom prst="rect">
            <a:avLst/>
          </a:prstGeom>
          <a:solidFill>
            <a:srgbClr val="00B4D8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31720" y="1993392"/>
            <a:ext cx="960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B2A"/>
                </a:solidFill>
              </a:rPr>
              <a:t>Params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83280" y="1965960"/>
            <a:ext cx="1234440" cy="347472"/>
          </a:xfrm>
          <a:prstGeom prst="rect">
            <a:avLst/>
          </a:prstGeom>
          <a:solidFill>
            <a:srgbClr val="00B4D8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29000" y="1993392"/>
            <a:ext cx="1143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B2A"/>
                </a:solidFill>
              </a:rPr>
              <a:t>K=1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63440" y="1965960"/>
            <a:ext cx="1234440" cy="347472"/>
          </a:xfrm>
          <a:prstGeom prst="rect">
            <a:avLst/>
          </a:prstGeom>
          <a:solidFill>
            <a:srgbClr val="00B4D8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09160" y="1993392"/>
            <a:ext cx="1143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B2A"/>
                </a:solidFill>
              </a:rPr>
              <a:t>K=2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0" y="1965960"/>
            <a:ext cx="1234440" cy="347472"/>
          </a:xfrm>
          <a:prstGeom prst="rect">
            <a:avLst/>
          </a:prstGeom>
          <a:solidFill>
            <a:srgbClr val="00B4D8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89320" y="1993392"/>
            <a:ext cx="1143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B2A"/>
                </a:solidFill>
              </a:rPr>
              <a:t>K=5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223760" y="1965960"/>
            <a:ext cx="1234440" cy="347472"/>
          </a:xfrm>
          <a:prstGeom prst="rect">
            <a:avLst/>
          </a:prstGeom>
          <a:solidFill>
            <a:srgbClr val="00B4D8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69480" y="1993392"/>
            <a:ext cx="1143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B2A"/>
                </a:solidFill>
              </a:rPr>
              <a:t>K=10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503920" y="1965960"/>
            <a:ext cx="1234440" cy="347472"/>
          </a:xfrm>
          <a:prstGeom prst="rect">
            <a:avLst/>
          </a:prstGeom>
          <a:solidFill>
            <a:srgbClr val="00B4D8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49640" y="1993392"/>
            <a:ext cx="1143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B2A"/>
                </a:solidFill>
              </a:rPr>
              <a:t>K=15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784080" y="1965960"/>
            <a:ext cx="1234440" cy="347472"/>
          </a:xfrm>
          <a:prstGeom prst="rect">
            <a:avLst/>
          </a:prstGeom>
          <a:solidFill>
            <a:srgbClr val="00B4D8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29800" y="1993392"/>
            <a:ext cx="1143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B2A"/>
                </a:solidFill>
              </a:rPr>
              <a:t>K=20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2331720"/>
            <a:ext cx="1965960" cy="347472"/>
          </a:xfrm>
          <a:prstGeom prst="rect">
            <a:avLst/>
          </a:prstGeom>
          <a:solidFill>
            <a:srgbClr val="162A3C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0040" y="2359152"/>
            <a:ext cx="1874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B4D8"/>
                </a:solidFill>
              </a:rPr>
              <a:t>KAN-EBM (32K)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286000" y="2331720"/>
            <a:ext cx="1051560" cy="347472"/>
          </a:xfrm>
          <a:prstGeom prst="rect">
            <a:avLst/>
          </a:prstGeom>
          <a:solidFill>
            <a:srgbClr val="162A3C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331720" y="2359152"/>
            <a:ext cx="960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D0E8F2"/>
                </a:solidFill>
              </a:rPr>
              <a:t>32K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383280" y="2331720"/>
            <a:ext cx="1234440" cy="347472"/>
          </a:xfrm>
          <a:prstGeom prst="rect">
            <a:avLst/>
          </a:prstGeom>
          <a:solidFill>
            <a:srgbClr val="162A3C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429000" y="2359152"/>
            <a:ext cx="1143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D0E8F2"/>
                </a:solidFill>
              </a:rPr>
              <a:t>20.12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663440" y="2331720"/>
            <a:ext cx="1234440" cy="347472"/>
          </a:xfrm>
          <a:prstGeom prst="rect">
            <a:avLst/>
          </a:prstGeom>
          <a:solidFill>
            <a:srgbClr val="162A3C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09160" y="2359152"/>
            <a:ext cx="1143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D0E8F2"/>
                </a:solidFill>
              </a:rPr>
              <a:t>22.34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43600" y="2331720"/>
            <a:ext cx="1234440" cy="347472"/>
          </a:xfrm>
          <a:prstGeom prst="rect">
            <a:avLst/>
          </a:prstGeom>
          <a:solidFill>
            <a:srgbClr val="162A3C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89320" y="2359152"/>
            <a:ext cx="1143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D0E8F2"/>
                </a:solidFill>
              </a:rPr>
              <a:t>24.80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223760" y="2331720"/>
            <a:ext cx="1234440" cy="347472"/>
          </a:xfrm>
          <a:prstGeom prst="rect">
            <a:avLst/>
          </a:prstGeom>
          <a:solidFill>
            <a:srgbClr val="162A3C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269480" y="2359152"/>
            <a:ext cx="1143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D0E8F2"/>
                </a:solidFill>
              </a:rPr>
              <a:t>25.91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503920" y="2331720"/>
            <a:ext cx="1234440" cy="347472"/>
          </a:xfrm>
          <a:prstGeom prst="rect">
            <a:avLst/>
          </a:prstGeom>
          <a:solidFill>
            <a:srgbClr val="162A3C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549640" y="2359152"/>
            <a:ext cx="1143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ECC71"/>
                </a:solidFill>
              </a:rPr>
              <a:t>26.37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784080" y="2331720"/>
            <a:ext cx="1234440" cy="347472"/>
          </a:xfrm>
          <a:prstGeom prst="rect">
            <a:avLst/>
          </a:prstGeom>
          <a:solidFill>
            <a:srgbClr val="162A3C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829800" y="2359152"/>
            <a:ext cx="1143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ECC71"/>
                </a:solidFill>
              </a:rPr>
              <a:t>26.95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" y="2697480"/>
            <a:ext cx="1965960" cy="347472"/>
          </a:xfrm>
          <a:prstGeom prst="rect">
            <a:avLst/>
          </a:prstGeom>
          <a:solidFill>
            <a:srgbClr val="162A3C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20040" y="2724912"/>
            <a:ext cx="1874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B4D8"/>
                </a:solidFill>
              </a:rPr>
              <a:t>KAN-EBM (110K)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286000" y="2697480"/>
            <a:ext cx="1051560" cy="347472"/>
          </a:xfrm>
          <a:prstGeom prst="rect">
            <a:avLst/>
          </a:prstGeom>
          <a:solidFill>
            <a:srgbClr val="162A3C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331720" y="2724912"/>
            <a:ext cx="960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D0E8F2"/>
                </a:solidFill>
              </a:rPr>
              <a:t>110K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383280" y="2697480"/>
            <a:ext cx="1234440" cy="347472"/>
          </a:xfrm>
          <a:prstGeom prst="rect">
            <a:avLst/>
          </a:prstGeom>
          <a:solidFill>
            <a:srgbClr val="162A3C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429000" y="2724912"/>
            <a:ext cx="1143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D0E8F2"/>
                </a:solidFill>
              </a:rPr>
              <a:t>20.45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663440" y="2697480"/>
            <a:ext cx="1234440" cy="347472"/>
          </a:xfrm>
          <a:prstGeom prst="rect">
            <a:avLst/>
          </a:prstGeom>
          <a:solidFill>
            <a:srgbClr val="162A3C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709160" y="2724912"/>
            <a:ext cx="1143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D0E8F2"/>
                </a:solidFill>
              </a:rPr>
              <a:t>23.01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943600" y="2697480"/>
            <a:ext cx="1234440" cy="347472"/>
          </a:xfrm>
          <a:prstGeom prst="rect">
            <a:avLst/>
          </a:prstGeom>
          <a:solidFill>
            <a:srgbClr val="162A3C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989320" y="2724912"/>
            <a:ext cx="1143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D0E8F2"/>
                </a:solidFill>
              </a:rPr>
              <a:t>25.38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223760" y="2697480"/>
            <a:ext cx="1234440" cy="347472"/>
          </a:xfrm>
          <a:prstGeom prst="rect">
            <a:avLst/>
          </a:prstGeom>
          <a:solidFill>
            <a:srgbClr val="162A3C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269480" y="2724912"/>
            <a:ext cx="1143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ECC71"/>
                </a:solidFill>
              </a:rPr>
              <a:t>26.83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503920" y="2697480"/>
            <a:ext cx="1234440" cy="347472"/>
          </a:xfrm>
          <a:prstGeom prst="rect">
            <a:avLst/>
          </a:prstGeom>
          <a:solidFill>
            <a:srgbClr val="162A3C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549640" y="2724912"/>
            <a:ext cx="1143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7B500"/>
                </a:solidFill>
              </a:rPr>
              <a:t>27.12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784080" y="2697480"/>
            <a:ext cx="1234440" cy="347472"/>
          </a:xfrm>
          <a:prstGeom prst="rect">
            <a:avLst/>
          </a:prstGeom>
          <a:solidFill>
            <a:srgbClr val="162A3C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829800" y="2724912"/>
            <a:ext cx="1143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D0E8F2"/>
                </a:solidFill>
              </a:rPr>
              <a:t>27.03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74320" y="3063240"/>
            <a:ext cx="1965960" cy="347472"/>
          </a:xfrm>
          <a:prstGeom prst="rect">
            <a:avLst/>
          </a:prstGeom>
          <a:solidFill>
            <a:srgbClr val="201010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20040" y="3090672"/>
            <a:ext cx="1874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74C3C"/>
                </a:solidFill>
              </a:rPr>
              <a:t>SmoothMLP-EBM (fair)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286000" y="3063240"/>
            <a:ext cx="1051560" cy="347472"/>
          </a:xfrm>
          <a:prstGeom prst="rect">
            <a:avLst/>
          </a:prstGeom>
          <a:solidFill>
            <a:srgbClr val="201010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331720" y="3090672"/>
            <a:ext cx="960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D0E8F2"/>
                </a:solidFill>
              </a:rPr>
              <a:t>97K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383280" y="3063240"/>
            <a:ext cx="1234440" cy="347472"/>
          </a:xfrm>
          <a:prstGeom prst="rect">
            <a:avLst/>
          </a:prstGeom>
          <a:solidFill>
            <a:srgbClr val="201010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429000" y="3090672"/>
            <a:ext cx="1143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D0E8F2"/>
                </a:solidFill>
              </a:rPr>
              <a:t>19.89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663440" y="3063240"/>
            <a:ext cx="1234440" cy="347472"/>
          </a:xfrm>
          <a:prstGeom prst="rect">
            <a:avLst/>
          </a:prstGeom>
          <a:solidFill>
            <a:srgbClr val="201010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709160" y="3090672"/>
            <a:ext cx="1143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D0E8F2"/>
                </a:solidFill>
              </a:rPr>
              <a:t>20.10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943600" y="3063240"/>
            <a:ext cx="1234440" cy="347472"/>
          </a:xfrm>
          <a:prstGeom prst="rect">
            <a:avLst/>
          </a:prstGeom>
          <a:solidFill>
            <a:srgbClr val="201010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989320" y="3090672"/>
            <a:ext cx="1143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D0E8F2"/>
                </a:solidFill>
              </a:rPr>
              <a:t>20.23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223760" y="3063240"/>
            <a:ext cx="1234440" cy="347472"/>
          </a:xfrm>
          <a:prstGeom prst="rect">
            <a:avLst/>
          </a:prstGeom>
          <a:solidFill>
            <a:srgbClr val="201010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269480" y="3090672"/>
            <a:ext cx="1143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D0E8F2"/>
                </a:solidFill>
              </a:rPr>
              <a:t>20.41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503920" y="3063240"/>
            <a:ext cx="1234440" cy="347472"/>
          </a:xfrm>
          <a:prstGeom prst="rect">
            <a:avLst/>
          </a:prstGeom>
          <a:solidFill>
            <a:srgbClr val="201010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549640" y="3090672"/>
            <a:ext cx="1143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D0E8F2"/>
                </a:solidFill>
              </a:rPr>
              <a:t>20.56</a:t>
            </a:r>
          </a:p>
        </p:txBody>
      </p:sp>
      <p:sp>
        <p:nvSpPr>
          <p:cNvPr id="69" name="Rectangle 68"/>
          <p:cNvSpPr/>
          <p:nvPr/>
        </p:nvSpPr>
        <p:spPr>
          <a:xfrm>
            <a:off x="9784080" y="3063240"/>
            <a:ext cx="1234440" cy="347472"/>
          </a:xfrm>
          <a:prstGeom prst="rect">
            <a:avLst/>
          </a:prstGeom>
          <a:solidFill>
            <a:srgbClr val="201010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829800" y="3090672"/>
            <a:ext cx="1143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D0E8F2"/>
                </a:solidFill>
              </a:rPr>
              <a:t>20.48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74320" y="3657600"/>
            <a:ext cx="11612880" cy="594360"/>
          </a:xfrm>
          <a:prstGeom prst="rect">
            <a:avLst/>
          </a:prstGeom>
          <a:solidFill>
            <a:srgbClr val="05301A"/>
          </a:solidFill>
          <a:ln w="254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57200" y="370332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CC71"/>
                </a:solidFill>
              </a:rPr>
              <a:t>Takeaway:  KAN-EBM (110K) reaches 26.83 dB at K=15 vs. MLP plateau at 20.56 dB  →  +6.83 dB  |  K* = 1 for MLP (no beneficial iteration)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57200" y="4343400"/>
            <a:ext cx="114300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7B500"/>
                </a:solidFill>
              </a:rPr>
              <a:t>Why does MLP plateau at K=1?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57200" y="4690872"/>
            <a:ext cx="114300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0E8F2"/>
                </a:solidFill>
              </a:rPr>
              <a:t>The MLP energy landscape has no consistent gradient direction — adding noise at each step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57200" y="5038344"/>
            <a:ext cx="114300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0E8F2"/>
                </a:solidFill>
              </a:rPr>
              <a:t>prevents cumulative refinement. KAN's smooth C^p splines provide coherent gradient flow.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57200" y="5385816"/>
            <a:ext cx="114300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57200" y="5733288"/>
            <a:ext cx="114300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K* = 1 for MLP-EBM confirms the law is architecture-specific, not a universal property.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57200" y="6080760"/>
            <a:ext cx="114300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74C3C"/>
                </a:solidFill>
              </a:rPr>
              <a:t>MLP-EBM power-law fit: α=0.294, R²=0.42 (no meaningful law).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D1B2A"/>
                </a:solidFill>
              </a:rPr>
              <a:t>The K*(σ) Empirical Scaling Law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2179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0D1B2A"/>
                </a:solidFill>
              </a:rPr>
              <a:t>Optimal inference depth grows as a power law of noise level — R² = 0.98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87552"/>
            <a:ext cx="121889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97280"/>
            <a:ext cx="11430000" cy="1005840"/>
          </a:xfrm>
          <a:prstGeom prst="rect">
            <a:avLst/>
          </a:prstGeom>
          <a:solidFill>
            <a:srgbClr val="002010"/>
          </a:solidFill>
          <a:ln w="31750">
            <a:solidFill>
              <a:srgbClr val="F7B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7B500"/>
                </a:solidFill>
              </a:rPr>
              <a:t>K*(σ)  ≈  86.7 · σ^1.53          (R² = 0.98, CIFAR-10, five noise levels)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24028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K*_obs vs. σ (CIFAR-10, KAN-EBM 32K)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606040"/>
            <a:ext cx="960120" cy="347472"/>
          </a:xfrm>
          <a:prstGeom prst="rect">
            <a:avLst/>
          </a:prstGeom>
          <a:solidFill>
            <a:srgbClr val="00B4D8"/>
          </a:solidFill>
          <a:ln w="6350"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" y="2633472"/>
            <a:ext cx="9052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B2A"/>
                </a:solidFill>
              </a:rPr>
              <a:t>σ=0.05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971800"/>
            <a:ext cx="960120" cy="347472"/>
          </a:xfrm>
          <a:prstGeom prst="rect">
            <a:avLst/>
          </a:prstGeom>
          <a:solidFill>
            <a:srgbClr val="162A3C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" y="2999232"/>
            <a:ext cx="9052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7B500"/>
                </a:solidFill>
              </a:rPr>
              <a:t>obs: 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337560"/>
            <a:ext cx="960120" cy="347472"/>
          </a:xfrm>
          <a:prstGeom prst="rect">
            <a:avLst/>
          </a:prstGeom>
          <a:solidFill>
            <a:srgbClr val="162A3C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4632" y="3364992"/>
            <a:ext cx="9052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ECC71"/>
                </a:solidFill>
              </a:rPr>
              <a:t>fit: 1.2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481328" y="2606040"/>
            <a:ext cx="960120" cy="347472"/>
          </a:xfrm>
          <a:prstGeom prst="rect">
            <a:avLst/>
          </a:prstGeom>
          <a:solidFill>
            <a:srgbClr val="00B4D8"/>
          </a:solidFill>
          <a:ln w="6350"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08760" y="2633472"/>
            <a:ext cx="9052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B2A"/>
                </a:solidFill>
              </a:rPr>
              <a:t>σ=0.10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81328" y="2971800"/>
            <a:ext cx="960120" cy="347472"/>
          </a:xfrm>
          <a:prstGeom prst="rect">
            <a:avLst/>
          </a:prstGeom>
          <a:solidFill>
            <a:srgbClr val="162A3C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508760" y="2999232"/>
            <a:ext cx="9052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7B500"/>
                </a:solidFill>
              </a:rPr>
              <a:t>obs: 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481328" y="3337560"/>
            <a:ext cx="960120" cy="347472"/>
          </a:xfrm>
          <a:prstGeom prst="rect">
            <a:avLst/>
          </a:prstGeom>
          <a:solidFill>
            <a:srgbClr val="162A3C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508760" y="3364992"/>
            <a:ext cx="9052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ECC71"/>
                </a:solidFill>
              </a:rPr>
              <a:t>fit: 2.5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505456" y="2606040"/>
            <a:ext cx="960120" cy="347472"/>
          </a:xfrm>
          <a:prstGeom prst="rect">
            <a:avLst/>
          </a:prstGeom>
          <a:solidFill>
            <a:srgbClr val="00B4D8"/>
          </a:solidFill>
          <a:ln w="6350"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532888" y="2633472"/>
            <a:ext cx="9052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B2A"/>
                </a:solidFill>
              </a:rPr>
              <a:t>σ=0.15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505456" y="2971800"/>
            <a:ext cx="960120" cy="347472"/>
          </a:xfrm>
          <a:prstGeom prst="rect">
            <a:avLst/>
          </a:prstGeom>
          <a:solidFill>
            <a:srgbClr val="162A3C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32888" y="2999232"/>
            <a:ext cx="9052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7B500"/>
                </a:solidFill>
              </a:rPr>
              <a:t>obs: 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505456" y="3337560"/>
            <a:ext cx="960120" cy="347472"/>
          </a:xfrm>
          <a:prstGeom prst="rect">
            <a:avLst/>
          </a:prstGeom>
          <a:solidFill>
            <a:srgbClr val="162A3C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532888" y="3364992"/>
            <a:ext cx="9052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ECC71"/>
                </a:solidFill>
              </a:rPr>
              <a:t>fit: 5.2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29584" y="2606040"/>
            <a:ext cx="960120" cy="347472"/>
          </a:xfrm>
          <a:prstGeom prst="rect">
            <a:avLst/>
          </a:prstGeom>
          <a:solidFill>
            <a:srgbClr val="00B4D8"/>
          </a:solidFill>
          <a:ln w="6350"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57016" y="2633472"/>
            <a:ext cx="9052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B2A"/>
                </a:solidFill>
              </a:rPr>
              <a:t>σ=0.20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529584" y="2971800"/>
            <a:ext cx="960120" cy="347472"/>
          </a:xfrm>
          <a:prstGeom prst="rect">
            <a:avLst/>
          </a:prstGeom>
          <a:solidFill>
            <a:srgbClr val="162A3C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57016" y="2999232"/>
            <a:ext cx="9052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7B500"/>
                </a:solidFill>
              </a:rPr>
              <a:t>obs: 7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529584" y="3337560"/>
            <a:ext cx="960120" cy="347472"/>
          </a:xfrm>
          <a:prstGeom prst="rect">
            <a:avLst/>
          </a:prstGeom>
          <a:solidFill>
            <a:srgbClr val="162A3C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557016" y="3364992"/>
            <a:ext cx="9052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ECC71"/>
                </a:solidFill>
              </a:rPr>
              <a:t>fit: 7.1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53712" y="2606040"/>
            <a:ext cx="960120" cy="347472"/>
          </a:xfrm>
          <a:prstGeom prst="rect">
            <a:avLst/>
          </a:prstGeom>
          <a:solidFill>
            <a:srgbClr val="00B4D8"/>
          </a:solidFill>
          <a:ln w="6350"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81144" y="2633472"/>
            <a:ext cx="9052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B2A"/>
                </a:solidFill>
              </a:rPr>
              <a:t>σ=0.30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53712" y="2971800"/>
            <a:ext cx="960120" cy="347472"/>
          </a:xfrm>
          <a:prstGeom prst="rect">
            <a:avLst/>
          </a:prstGeom>
          <a:solidFill>
            <a:srgbClr val="162A3C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81144" y="2999232"/>
            <a:ext cx="9052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7B500"/>
                </a:solidFill>
              </a:rPr>
              <a:t>obs: 15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53712" y="3337560"/>
            <a:ext cx="960120" cy="347472"/>
          </a:xfrm>
          <a:prstGeom prst="rect">
            <a:avLst/>
          </a:prstGeom>
          <a:solidFill>
            <a:srgbClr val="162A3C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81144" y="3364992"/>
            <a:ext cx="9052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ECC71"/>
                </a:solidFill>
              </a:rPr>
              <a:t>fit: 14.8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943600" y="2240280"/>
            <a:ext cx="5943600" cy="4297680"/>
          </a:xfrm>
          <a:prstGeom prst="rect">
            <a:avLst/>
          </a:prstGeom>
          <a:solidFill>
            <a:srgbClr val="162A3C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080760" y="2313432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</a:rPr>
              <a:t>Interpretation of the law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26480" y="2724912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7B500"/>
                </a:solidFill>
              </a:rPr>
              <a:t>Exponent α ≈ 1.5: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26480" y="3044952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E8F2"/>
                </a:solidFill>
              </a:rPr>
              <a:t>  Noise adds distance ∝ σ to the corrupted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26480" y="3364992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E8F2"/>
                </a:solidFill>
              </a:rPr>
              <a:t>  manifold. GD iterations ∝ log(distance/ε)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26480" y="3685032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E8F2"/>
                </a:solidFill>
              </a:rPr>
              <a:t>  with sub-quadratic curvature → α ≈ 1.5.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26480" y="4005072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126480" y="4325112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7B500"/>
                </a:solidFill>
              </a:rPr>
              <a:t>Practical use: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126480" y="4645152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E8F2"/>
                </a:solidFill>
              </a:rPr>
              <a:t>  Given σ (known at inference time),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126480" y="4965192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E8F2"/>
                </a:solidFill>
              </a:rPr>
              <a:t>  set K = round(86.7 · σ^1.53).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126480" y="5285232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B4D8"/>
                </a:solidFill>
              </a:rPr>
              <a:t>  No grid search. No validation set needed.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126480" y="5605272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126480" y="5925312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7B500"/>
                </a:solidFill>
              </a:rPr>
              <a:t>Constant C = 86.7: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126480" y="6245352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E8F2"/>
                </a:solidFill>
              </a:rPr>
              <a:t>  Must be re-fit per (model, dataset).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126480" y="6565392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E8F2"/>
                </a:solidFill>
              </a:rPr>
              <a:t>  CelebA gives C = 56.6 (same α ≈ 1.36).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126480" y="6885432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126480" y="7205472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74C3C"/>
                </a:solidFill>
              </a:rPr>
              <a:t>What this is NOT: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126480" y="7525512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E8F2"/>
                </a:solidFill>
              </a:rPr>
              <a:t>  Not a closed-form spectral bound.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126480" y="7845552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E8F2"/>
                </a:solidFill>
              </a:rPr>
              <a:t>  Theoretical derivation is future work.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65760" y="3840480"/>
            <a:ext cx="5303520" cy="2697480"/>
          </a:xfrm>
          <a:prstGeom prst="rect">
            <a:avLst/>
          </a:prstGeom>
          <a:solidFill>
            <a:srgbClr val="052030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02920" y="391363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Early-stopping protocol (deployment)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48640" y="427939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D0E8F2"/>
                </a:solidFill>
              </a:rPr>
              <a:t>1.  Estimate σ from noisy input (blind denoiser or σ-estimator).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48640" y="4626864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D0E8F2"/>
                </a:solidFill>
              </a:rPr>
              <a:t>2.  Compute K̂ = round(C · σ^α).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48640" y="4974336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D0E8F2"/>
                </a:solidFill>
              </a:rPr>
              <a:t>3.  Run exactly K̂ Langevin steps.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48640" y="532180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D0E8F2"/>
                </a:solidFill>
              </a:rPr>
              <a:t>4.  Expected PSNR ≈ peak PSNR ± 0.3 dB.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48640" y="566928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D0E8F2"/>
                </a:solidFill>
              </a:rPr>
              <a:t/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48640" y="601675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0B4D8"/>
                </a:solidFill>
              </a:rPr>
              <a:t>→  Eliminates K sweep at test time entirely.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D1B2A"/>
                </a:solidFill>
              </a:rPr>
              <a:t>Four-Predictor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2179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0D1B2A"/>
                </a:solidFill>
              </a:rPr>
              <a:t>Which Hessian-derived quantity best predicts K*?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87552"/>
            <a:ext cx="121889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5156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D0E8F2"/>
                </a:solidFill>
              </a:rPr>
              <a:t>We computed the Hessian spectrum at the noisy starting point x̃ via Lanczos (10 steps, 3 restarts). Four candidate predictors were evaluated on 5 sigmas × CIFAR-10.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64208"/>
            <a:ext cx="411480" cy="347472"/>
          </a:xfrm>
          <a:prstGeom prst="rect">
            <a:avLst/>
          </a:prstGeom>
          <a:solidFill>
            <a:srgbClr val="00B4D8"/>
          </a:solidFill>
          <a:ln w="6350"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700784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</a:rPr>
              <a:t>ID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1664208"/>
            <a:ext cx="1874520" cy="347472"/>
          </a:xfrm>
          <a:prstGeom prst="rect">
            <a:avLst/>
          </a:prstGeom>
          <a:solidFill>
            <a:srgbClr val="00B4D8"/>
          </a:solidFill>
          <a:ln w="6350"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700784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</a:rPr>
              <a:t>Name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34640" y="1664208"/>
            <a:ext cx="3154680" cy="347472"/>
          </a:xfrm>
          <a:prstGeom prst="rect">
            <a:avLst/>
          </a:prstGeom>
          <a:solidFill>
            <a:srgbClr val="00B4D8"/>
          </a:solidFill>
          <a:ln w="6350"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80360" y="1700784"/>
            <a:ext cx="3063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</a:rPr>
              <a:t>Formula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35040" y="1664208"/>
            <a:ext cx="685800" cy="347472"/>
          </a:xfrm>
          <a:prstGeom prst="rect">
            <a:avLst/>
          </a:prstGeom>
          <a:solidFill>
            <a:srgbClr val="00B4D8"/>
          </a:solidFill>
          <a:ln w="6350"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80760" y="1700784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</a:rPr>
              <a:t>R²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766560" y="1664208"/>
            <a:ext cx="1965960" cy="347472"/>
          </a:xfrm>
          <a:prstGeom prst="rect">
            <a:avLst/>
          </a:prstGeom>
          <a:solidFill>
            <a:srgbClr val="00B4D8"/>
          </a:solidFill>
          <a:ln w="6350"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12280" y="1700784"/>
            <a:ext cx="1874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</a:rPr>
              <a:t>Verdict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1521752179248"/>
            <a:ext cx="411480" cy="347472"/>
          </a:xfrm>
          <a:prstGeom prst="rect">
            <a:avLst/>
          </a:prstGeom>
          <a:solidFill>
            <a:srgbClr val="162A3C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1521752215824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D0E8F2"/>
                </a:solidFill>
              </a:rPr>
              <a:t>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" y="1521752179248"/>
            <a:ext cx="1874520" cy="347472"/>
          </a:xfrm>
          <a:prstGeom prst="rect">
            <a:avLst/>
          </a:prstGeom>
          <a:solidFill>
            <a:srgbClr val="162A3C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1521752215824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0E8F2"/>
                </a:solidFill>
              </a:rPr>
              <a:t>Slow-mode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834640" y="1521752179248"/>
            <a:ext cx="3154680" cy="347472"/>
          </a:xfrm>
          <a:prstGeom prst="rect">
            <a:avLst/>
          </a:prstGeom>
          <a:solidFill>
            <a:srgbClr val="162A3C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880360" y="1521752215824"/>
            <a:ext cx="3063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B4D8"/>
                </a:solidFill>
              </a:rPr>
              <a:t>1 / (η · λ_min)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35040" y="1521752179248"/>
            <a:ext cx="685800" cy="347472"/>
          </a:xfrm>
          <a:prstGeom prst="rect">
            <a:avLst/>
          </a:prstGeom>
          <a:solidFill>
            <a:srgbClr val="162A3C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80760" y="1521752215824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7B500"/>
                </a:solidFill>
              </a:rPr>
              <a:t>0.58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766560" y="1521752179248"/>
            <a:ext cx="1965960" cy="347472"/>
          </a:xfrm>
          <a:prstGeom prst="rect">
            <a:avLst/>
          </a:prstGeom>
          <a:solidFill>
            <a:srgbClr val="162A3C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12280" y="1521752215824"/>
            <a:ext cx="1874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74C3C"/>
                </a:solidFill>
              </a:rPr>
              <a:t>Wrong sign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1521752563296"/>
            <a:ext cx="411480" cy="347472"/>
          </a:xfrm>
          <a:prstGeom prst="rect">
            <a:avLst/>
          </a:prstGeom>
          <a:solidFill>
            <a:srgbClr val="162A3C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1521752599872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D0E8F2"/>
                </a:solidFill>
              </a:rPr>
              <a:t>B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4400" y="1521752563296"/>
            <a:ext cx="1874520" cy="347472"/>
          </a:xfrm>
          <a:prstGeom prst="rect">
            <a:avLst/>
          </a:prstGeom>
          <a:solidFill>
            <a:srgbClr val="162A3C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0120" y="1521752599872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0E8F2"/>
                </a:solidFill>
              </a:rPr>
              <a:t>Convergence rate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834640" y="1521752563296"/>
            <a:ext cx="3154680" cy="347472"/>
          </a:xfrm>
          <a:prstGeom prst="rect">
            <a:avLst/>
          </a:prstGeom>
          <a:solidFill>
            <a:srgbClr val="162A3C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880360" y="1521752599872"/>
            <a:ext cx="3063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B4D8"/>
                </a:solidFill>
              </a:rPr>
              <a:t>σκ / (η · λ_max)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035040" y="1521752563296"/>
            <a:ext cx="685800" cy="347472"/>
          </a:xfrm>
          <a:prstGeom prst="rect">
            <a:avLst/>
          </a:prstGeom>
          <a:solidFill>
            <a:srgbClr val="162A3C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80760" y="1521752599872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7B500"/>
                </a:solidFill>
              </a:rPr>
              <a:t>0.61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766560" y="1521752563296"/>
            <a:ext cx="1965960" cy="347472"/>
          </a:xfrm>
          <a:prstGeom prst="rect">
            <a:avLst/>
          </a:prstGeom>
          <a:solidFill>
            <a:srgbClr val="162A3C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12280" y="1521752599872"/>
            <a:ext cx="1874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74C3C"/>
                </a:solidFill>
              </a:rPr>
              <a:t>Poor fit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1521752947344"/>
            <a:ext cx="411480" cy="347472"/>
          </a:xfrm>
          <a:prstGeom prst="rect">
            <a:avLst/>
          </a:prstGeom>
          <a:solidFill>
            <a:srgbClr val="05280F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2920" y="152175298392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D0E8F2"/>
                </a:solidFill>
              </a:rPr>
              <a:t>C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4400" y="1521752947344"/>
            <a:ext cx="1874520" cy="347472"/>
          </a:xfrm>
          <a:prstGeom prst="rect">
            <a:avLst/>
          </a:prstGeom>
          <a:solidFill>
            <a:srgbClr val="05280F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60120" y="1521752983920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0E8F2"/>
                </a:solidFill>
              </a:rPr>
              <a:t>Noise magnitude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834640" y="1521752947344"/>
            <a:ext cx="3154680" cy="347472"/>
          </a:xfrm>
          <a:prstGeom prst="rect">
            <a:avLst/>
          </a:prstGeom>
          <a:solidFill>
            <a:srgbClr val="05280F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880360" y="1521752983920"/>
            <a:ext cx="3063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B4D8"/>
                </a:solidFill>
              </a:rPr>
              <a:t>σ  (alone)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035040" y="1521752947344"/>
            <a:ext cx="685800" cy="347472"/>
          </a:xfrm>
          <a:prstGeom prst="rect">
            <a:avLst/>
          </a:prstGeom>
          <a:solidFill>
            <a:srgbClr val="05280F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080760" y="1521752983920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7B500"/>
                </a:solidFill>
              </a:rPr>
              <a:t>0.98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766560" y="1521752947344"/>
            <a:ext cx="1965960" cy="347472"/>
          </a:xfrm>
          <a:prstGeom prst="rect">
            <a:avLst/>
          </a:prstGeom>
          <a:solidFill>
            <a:srgbClr val="05280F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812280" y="1521752983920"/>
            <a:ext cx="1874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CC71"/>
                </a:solidFill>
              </a:rPr>
              <a:t>WINNER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7200" y="1521753331392"/>
            <a:ext cx="411480" cy="347472"/>
          </a:xfrm>
          <a:prstGeom prst="rect">
            <a:avLst/>
          </a:prstGeom>
          <a:solidFill>
            <a:srgbClr val="162A3C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02920" y="1521753367968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D0E8F2"/>
                </a:solidFill>
              </a:rPr>
              <a:t>D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14400" y="1521753331392"/>
            <a:ext cx="1874520" cy="347472"/>
          </a:xfrm>
          <a:prstGeom prst="rect">
            <a:avLst/>
          </a:prstGeom>
          <a:solidFill>
            <a:srgbClr val="162A3C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60120" y="1521753367968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0E8F2"/>
                </a:solidFill>
              </a:rPr>
              <a:t>Combined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834640" y="1521753331392"/>
            <a:ext cx="3154680" cy="347472"/>
          </a:xfrm>
          <a:prstGeom prst="rect">
            <a:avLst/>
          </a:prstGeom>
          <a:solidFill>
            <a:srgbClr val="162A3C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880360" y="1521753367968"/>
            <a:ext cx="3063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B4D8"/>
                </a:solidFill>
              </a:rPr>
              <a:t>σ / λ_min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035040" y="1521753331392"/>
            <a:ext cx="685800" cy="347472"/>
          </a:xfrm>
          <a:prstGeom prst="rect">
            <a:avLst/>
          </a:prstGeom>
          <a:solidFill>
            <a:srgbClr val="162A3C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080760" y="1521753367968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7B500"/>
                </a:solidFill>
              </a:rPr>
              <a:t>0.71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766560" y="1521753331392"/>
            <a:ext cx="1965960" cy="347472"/>
          </a:xfrm>
          <a:prstGeom prst="rect">
            <a:avLst/>
          </a:prstGeom>
          <a:solidFill>
            <a:srgbClr val="162A3C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812280" y="1521753367968"/>
            <a:ext cx="1874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7B500"/>
                </a:solidFill>
              </a:rPr>
              <a:t>Moderate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732520" y="1664208"/>
            <a:ext cx="3291840" cy="4846320"/>
          </a:xfrm>
          <a:prstGeom prst="rect">
            <a:avLst/>
          </a:prstGeom>
          <a:solidFill>
            <a:srgbClr val="162A3C"/>
          </a:solidFill>
          <a:ln w="19050">
            <a:solidFill>
              <a:srgbClr val="F7B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869680" y="1737360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7B500"/>
                </a:solidFill>
              </a:rPr>
              <a:t>Key finding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915400" y="2176272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74C3C"/>
                </a:solidFill>
              </a:rPr>
              <a:t>Spectral predictors fail: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915400" y="2496312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E8F2"/>
                </a:solidFill>
              </a:rPr>
              <a:t>  λ_min reflects local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915400" y="2816352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E8F2"/>
                </a:solidFill>
              </a:rPr>
              <a:t>  geometry but the iteration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915400" y="3136392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E8F2"/>
                </a:solidFill>
              </a:rPr>
              <a:t>  count is controlled by the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915400" y="3456432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E8F2"/>
                </a:solidFill>
              </a:rPr>
              <a:t>  global traversal distance.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915400" y="3776472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915400" y="4096512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B4D8"/>
                </a:solidFill>
              </a:rPr>
              <a:t>σ wins because: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915400" y="4416552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E8F2"/>
                </a:solidFill>
              </a:rPr>
              <a:t>  it directly measures how far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915400" y="4736592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E8F2"/>
                </a:solidFill>
              </a:rPr>
              <a:t>  x̃ is from the clean manifold.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915400" y="5056632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E8F2"/>
                </a:solidFill>
              </a:rPr>
              <a:t>  Hessian adds noise.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915400" y="5376672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915400" y="5696712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E8F2"/>
                </a:solidFill>
              </a:rPr>
              <a:t>A spectral bound that works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915400" y="6016752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74C3C"/>
                </a:solidFill>
              </a:rPr>
              <a:t>is a theoretical open problem.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57200" y="4224528"/>
            <a:ext cx="8092440" cy="2286000"/>
          </a:xfrm>
          <a:prstGeom prst="rect">
            <a:avLst/>
          </a:prstGeom>
          <a:solidFill>
            <a:srgbClr val="200808"/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94360" y="429768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74C3C"/>
                </a:solidFill>
              </a:rPr>
              <a:t>The slow-mode paradox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40080" y="466344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E8F2"/>
                </a:solidFill>
              </a:rPr>
              <a:t>Linearised analysis predicts: more iterations needed when λ_min is small (flat landscape).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40080" y="498348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E8F2"/>
                </a:solidFill>
              </a:rPr>
              <a:t>Observed: slow-mode predictor (1/λ_min) fits with the OPPOSITE sign — high λ_min → high K*.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40080" y="530352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E8F2"/>
                </a:solidFill>
              </a:rPr>
              <a:t>Interpretation: high curvature indicates a harder, higher-noise problem; the linearisation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40080" y="562356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E8F2"/>
                </a:solidFill>
              </a:rPr>
              <a:t>breaks in the non-convex regime that large σ induces.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D1B2A"/>
                </a:solidFill>
              </a:rPr>
              <a:t>Cross-Validation: Dataset &amp; Model Transfer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2179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0D1B2A"/>
                </a:solidFill>
              </a:rPr>
              <a:t>Exponent α robust across datasets; constant C shifts; MLP has no law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87552"/>
            <a:ext cx="121889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2514600" cy="384048"/>
          </a:xfrm>
          <a:prstGeom prst="rect">
            <a:avLst/>
          </a:prstGeom>
          <a:solidFill>
            <a:srgbClr val="00B4D8"/>
          </a:solidFill>
          <a:ln w="6350"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2423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</a:rPr>
              <a:t>Model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1143000"/>
            <a:ext cx="1691640" cy="384048"/>
          </a:xfrm>
          <a:prstGeom prst="rect">
            <a:avLst/>
          </a:prstGeom>
          <a:solidFill>
            <a:srgbClr val="00B4D8"/>
          </a:solidFill>
          <a:ln w="6350"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63240" y="1188720"/>
            <a:ext cx="1600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</a:rPr>
              <a:t>Dataset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0" y="1143000"/>
            <a:ext cx="960120" cy="384048"/>
          </a:xfrm>
          <a:prstGeom prst="rect">
            <a:avLst/>
          </a:prstGeom>
          <a:solidFill>
            <a:srgbClr val="00B4D8"/>
          </a:solidFill>
          <a:ln w="6350"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00600" y="1188720"/>
            <a:ext cx="868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</a:rPr>
              <a:t>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60720" y="1143000"/>
            <a:ext cx="960120" cy="384048"/>
          </a:xfrm>
          <a:prstGeom prst="rect">
            <a:avLst/>
          </a:prstGeom>
          <a:solidFill>
            <a:srgbClr val="00B4D8"/>
          </a:solidFill>
          <a:ln w="6350"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06440" y="1188720"/>
            <a:ext cx="868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</a:rPr>
              <a:t>α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66560" y="1143000"/>
            <a:ext cx="960120" cy="384048"/>
          </a:xfrm>
          <a:prstGeom prst="rect">
            <a:avLst/>
          </a:prstGeom>
          <a:solidFill>
            <a:srgbClr val="00B4D8"/>
          </a:solidFill>
          <a:ln w="6350"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12280" y="1188720"/>
            <a:ext cx="868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</a:rPr>
              <a:t>R²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0" y="1143000"/>
            <a:ext cx="1143000" cy="384048"/>
          </a:xfrm>
          <a:prstGeom prst="rect">
            <a:avLst/>
          </a:prstGeom>
          <a:solidFill>
            <a:srgbClr val="00B4D8"/>
          </a:solidFill>
          <a:ln w="6350"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18120" y="1188720"/>
            <a:ext cx="1051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</a:rPr>
              <a:t>K* law?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1581912"/>
            <a:ext cx="2514600" cy="384048"/>
          </a:xfrm>
          <a:prstGeom prst="rect">
            <a:avLst/>
          </a:prstGeom>
          <a:solidFill>
            <a:srgbClr val="05280F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1627632"/>
            <a:ext cx="2423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D0E8F2"/>
                </a:solidFill>
              </a:rPr>
              <a:t>KAN-EBM (32K)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581912"/>
            <a:ext cx="1691640" cy="384048"/>
          </a:xfrm>
          <a:prstGeom prst="rect">
            <a:avLst/>
          </a:prstGeom>
          <a:solidFill>
            <a:srgbClr val="05280F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63240" y="1627632"/>
            <a:ext cx="1600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D0E8F2"/>
                </a:solidFill>
              </a:rPr>
              <a:t>CIFAR-10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754880" y="1581912"/>
            <a:ext cx="960120" cy="384048"/>
          </a:xfrm>
          <a:prstGeom prst="rect">
            <a:avLst/>
          </a:prstGeom>
          <a:solidFill>
            <a:srgbClr val="05280F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00600" y="1627632"/>
            <a:ext cx="868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7B500"/>
                </a:solidFill>
              </a:rPr>
              <a:t>86.68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760720" y="1581912"/>
            <a:ext cx="960120" cy="384048"/>
          </a:xfrm>
          <a:prstGeom prst="rect">
            <a:avLst/>
          </a:prstGeom>
          <a:solidFill>
            <a:srgbClr val="05280F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806440" y="1627632"/>
            <a:ext cx="868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7B500"/>
                </a:solidFill>
              </a:rPr>
              <a:t>1.534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766560" y="1581912"/>
            <a:ext cx="960120" cy="384048"/>
          </a:xfrm>
          <a:prstGeom prst="rect">
            <a:avLst/>
          </a:prstGeom>
          <a:solidFill>
            <a:srgbClr val="05280F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12280" y="1627632"/>
            <a:ext cx="868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D0E8F2"/>
                </a:solidFill>
              </a:rPr>
              <a:t>0.980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0" y="1581912"/>
            <a:ext cx="1143000" cy="384048"/>
          </a:xfrm>
          <a:prstGeom prst="rect">
            <a:avLst/>
          </a:prstGeom>
          <a:solidFill>
            <a:srgbClr val="05280F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18120" y="1627632"/>
            <a:ext cx="1051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ECC71"/>
                </a:solidFill>
              </a:rPr>
              <a:t>YES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2020824"/>
            <a:ext cx="2514600" cy="384048"/>
          </a:xfrm>
          <a:prstGeom prst="rect">
            <a:avLst/>
          </a:prstGeom>
          <a:solidFill>
            <a:srgbClr val="05280F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2066544"/>
            <a:ext cx="2423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D0E8F2"/>
                </a:solidFill>
              </a:rPr>
              <a:t>KAN-EBM (32K)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17520" y="2020824"/>
            <a:ext cx="1691640" cy="384048"/>
          </a:xfrm>
          <a:prstGeom prst="rect">
            <a:avLst/>
          </a:prstGeom>
          <a:solidFill>
            <a:srgbClr val="05280F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63240" y="2066544"/>
            <a:ext cx="1600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D0E8F2"/>
                </a:solidFill>
              </a:rPr>
              <a:t>CelebA-64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754880" y="2020824"/>
            <a:ext cx="960120" cy="384048"/>
          </a:xfrm>
          <a:prstGeom prst="rect">
            <a:avLst/>
          </a:prstGeom>
          <a:solidFill>
            <a:srgbClr val="05280F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800600" y="2066544"/>
            <a:ext cx="868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7B500"/>
                </a:solidFill>
              </a:rPr>
              <a:t>56.64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760720" y="2020824"/>
            <a:ext cx="960120" cy="384048"/>
          </a:xfrm>
          <a:prstGeom prst="rect">
            <a:avLst/>
          </a:prstGeom>
          <a:solidFill>
            <a:srgbClr val="05280F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806440" y="2066544"/>
            <a:ext cx="868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7B500"/>
                </a:solidFill>
              </a:rPr>
              <a:t>1.362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766560" y="2020824"/>
            <a:ext cx="960120" cy="384048"/>
          </a:xfrm>
          <a:prstGeom prst="rect">
            <a:avLst/>
          </a:prstGeom>
          <a:solidFill>
            <a:srgbClr val="05280F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12280" y="2066544"/>
            <a:ext cx="868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D0E8F2"/>
                </a:solidFill>
              </a:rPr>
              <a:t>0.975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772400" y="2020824"/>
            <a:ext cx="1143000" cy="384048"/>
          </a:xfrm>
          <a:prstGeom prst="rect">
            <a:avLst/>
          </a:prstGeom>
          <a:solidFill>
            <a:srgbClr val="05280F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818120" y="2066544"/>
            <a:ext cx="1051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ECC71"/>
                </a:solidFill>
              </a:rPr>
              <a:t>YES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2459736"/>
            <a:ext cx="2514600" cy="384048"/>
          </a:xfrm>
          <a:prstGeom prst="rect">
            <a:avLst/>
          </a:prstGeom>
          <a:solidFill>
            <a:srgbClr val="200808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02920" y="2505456"/>
            <a:ext cx="2423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D0E8F2"/>
                </a:solidFill>
              </a:rPr>
              <a:t>SmoothMLP-EBM (97K, fair)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017520" y="2459736"/>
            <a:ext cx="1691640" cy="384048"/>
          </a:xfrm>
          <a:prstGeom prst="rect">
            <a:avLst/>
          </a:prstGeom>
          <a:solidFill>
            <a:srgbClr val="200808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063240" y="2505456"/>
            <a:ext cx="1600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D0E8F2"/>
                </a:solidFill>
              </a:rPr>
              <a:t>CelebA-64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754880" y="2459736"/>
            <a:ext cx="960120" cy="384048"/>
          </a:xfrm>
          <a:prstGeom prst="rect">
            <a:avLst/>
          </a:prstGeom>
          <a:solidFill>
            <a:srgbClr val="200808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800600" y="2505456"/>
            <a:ext cx="868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7B500"/>
                </a:solidFill>
              </a:rPr>
              <a:t>—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760720" y="2459736"/>
            <a:ext cx="960120" cy="384048"/>
          </a:xfrm>
          <a:prstGeom prst="rect">
            <a:avLst/>
          </a:prstGeom>
          <a:solidFill>
            <a:srgbClr val="200808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806440" y="2505456"/>
            <a:ext cx="868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7B500"/>
                </a:solidFill>
              </a:rPr>
              <a:t>0.294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766560" y="2459736"/>
            <a:ext cx="960120" cy="384048"/>
          </a:xfrm>
          <a:prstGeom prst="rect">
            <a:avLst/>
          </a:prstGeom>
          <a:solidFill>
            <a:srgbClr val="200808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812280" y="2505456"/>
            <a:ext cx="868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D0E8F2"/>
                </a:solidFill>
              </a:rPr>
              <a:t>0.42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772400" y="2459736"/>
            <a:ext cx="1143000" cy="384048"/>
          </a:xfrm>
          <a:prstGeom prst="rect">
            <a:avLst/>
          </a:prstGeom>
          <a:solidFill>
            <a:srgbClr val="200808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818120" y="2505456"/>
            <a:ext cx="1051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74C3C"/>
                </a:solidFill>
              </a:rPr>
              <a:t>NO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57200" y="3017520"/>
            <a:ext cx="11430000" cy="3520440"/>
          </a:xfrm>
          <a:prstGeom prst="rect">
            <a:avLst/>
          </a:prstGeom>
          <a:solidFill>
            <a:srgbClr val="162A3C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94360" y="309067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</a:rPr>
              <a:t>What the cross-validation tells us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0080" y="349300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D0E8F2"/>
                </a:solidFill>
              </a:rPr>
              <a:t>α ≈ 1.4–1.5 is dataset-dependent but in the same ballpark.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0080" y="381304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A6A7A"/>
                </a:solidFill>
              </a:rPr>
              <a:t>  The exponent reflects the geometry of the noise process, not KAN architecture.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0080" y="413308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40080" y="445312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D0E8F2"/>
                </a:solidFill>
              </a:rPr>
              <a:t>C shifts (86.7 on CIFAR vs. 56.6 on CelebA).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40080" y="47731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A6A7A"/>
                </a:solidFill>
              </a:rPr>
              <a:t>  Faces have more learnable structure; fewer iterations needed per unit σ.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40080" y="509320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7B500"/>
                </a:solidFill>
              </a:rPr>
              <a:t>  → Re-fit C on a 5-point calibration set before deployment.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40080" y="541324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40080" y="573328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E74C3C"/>
                </a:solidFill>
              </a:rPr>
              <a:t>MLP-EBM has no law (α=0.29, R²=0.42).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40080" y="605332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D0E8F2"/>
                </a:solidFill>
              </a:rPr>
              <a:t>  Confirms the K* phenomenon is KAN-specific — smooth splines enable coherent iteration.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40080" y="6373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40080" y="669340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0B4D8"/>
                </a:solidFill>
              </a:rPr>
              <a:t>Implication: deploy by fitting C, not re-fitting α.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D1B2A"/>
                </a:solidFill>
              </a:rPr>
              <a:t>Architectural Invariance Ablations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2179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0D1B2A"/>
                </a:solidFill>
              </a:rPr>
              <a:t>K* law (α, R²) identical across 3.4× param scale and spline orders p=2,3,5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87552"/>
            <a:ext cx="121889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5156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D0E8F2"/>
                </a:solidFill>
              </a:rPr>
              <a:t>If α were an architectural artifact, it should change with model size or spline order. It does not. This supports α as a dataset / noise-process property.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00200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Experiment A: Parameter Scale (CIFAR-10)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965960"/>
            <a:ext cx="1051560" cy="320040"/>
          </a:xfrm>
          <a:prstGeom prst="rect">
            <a:avLst/>
          </a:prstGeom>
          <a:solidFill>
            <a:srgbClr val="00B4D8"/>
          </a:solidFill>
          <a:ln w="6350"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32" y="1993392"/>
            <a:ext cx="1005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B2A"/>
                </a:solidFill>
              </a:rPr>
              <a:t>Model</a:t>
            </a:r>
          </a:p>
        </p:txBody>
      </p:sp>
      <p:sp>
        <p:nvSpPr>
          <p:cNvPr id="10" name="Rectangle 9"/>
          <p:cNvSpPr/>
          <p:nvPr/>
        </p:nvSpPr>
        <p:spPr>
          <a:xfrm>
            <a:off x="1554480" y="1965960"/>
            <a:ext cx="960120" cy="320040"/>
          </a:xfrm>
          <a:prstGeom prst="rect">
            <a:avLst/>
          </a:prstGeom>
          <a:solidFill>
            <a:srgbClr val="00B4D8"/>
          </a:solidFill>
          <a:ln w="6350"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81912" y="1993392"/>
            <a:ext cx="914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B2A"/>
                </a:solidFill>
              </a:rPr>
              <a:t>Params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60320" y="1965960"/>
            <a:ext cx="685800" cy="320040"/>
          </a:xfrm>
          <a:prstGeom prst="rect">
            <a:avLst/>
          </a:prstGeom>
          <a:solidFill>
            <a:srgbClr val="00B4D8"/>
          </a:solidFill>
          <a:ln w="6350"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87752" y="1993392"/>
            <a:ext cx="6400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B2A"/>
                </a:solidFill>
              </a:rPr>
              <a:t>α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91840" y="1965960"/>
            <a:ext cx="685800" cy="320040"/>
          </a:xfrm>
          <a:prstGeom prst="rect">
            <a:avLst/>
          </a:prstGeom>
          <a:solidFill>
            <a:srgbClr val="00B4D8"/>
          </a:solidFill>
          <a:ln w="6350"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19272" y="1993392"/>
            <a:ext cx="6400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B2A"/>
                </a:solidFill>
              </a:rPr>
              <a:t>R²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023360" y="1965960"/>
            <a:ext cx="868680" cy="320040"/>
          </a:xfrm>
          <a:prstGeom prst="rect">
            <a:avLst/>
          </a:prstGeom>
          <a:solidFill>
            <a:srgbClr val="00B4D8"/>
          </a:solidFill>
          <a:ln w="6350"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050792" y="1993392"/>
            <a:ext cx="822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B2A"/>
                </a:solidFill>
              </a:rPr>
              <a:t>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304288"/>
            <a:ext cx="1051560" cy="329184"/>
          </a:xfrm>
          <a:prstGeom prst="rect">
            <a:avLst/>
          </a:prstGeom>
          <a:solidFill>
            <a:srgbClr val="162A3C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4632" y="233172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D0E8F2"/>
                </a:solidFill>
              </a:rPr>
              <a:t>Tiny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554480" y="2304288"/>
            <a:ext cx="960120" cy="329184"/>
          </a:xfrm>
          <a:prstGeom prst="rect">
            <a:avLst/>
          </a:prstGeom>
          <a:solidFill>
            <a:srgbClr val="162A3C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581912" y="233172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D0E8F2"/>
                </a:solidFill>
              </a:rPr>
              <a:t>5,808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60320" y="2304288"/>
            <a:ext cx="685800" cy="329184"/>
          </a:xfrm>
          <a:prstGeom prst="rect">
            <a:avLst/>
          </a:prstGeom>
          <a:solidFill>
            <a:srgbClr val="162A3C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587752" y="2331720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74C3C"/>
                </a:solidFill>
              </a:rPr>
              <a:t>1.362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91840" y="2304288"/>
            <a:ext cx="685800" cy="329184"/>
          </a:xfrm>
          <a:prstGeom prst="rect">
            <a:avLst/>
          </a:prstGeom>
          <a:solidFill>
            <a:srgbClr val="162A3C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319272" y="2331720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7B500"/>
                </a:solidFill>
              </a:rPr>
              <a:t>0.975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023360" y="2304288"/>
            <a:ext cx="868680" cy="329184"/>
          </a:xfrm>
          <a:prstGeom prst="rect">
            <a:avLst/>
          </a:prstGeom>
          <a:solidFill>
            <a:srgbClr val="162A3C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050792" y="2331720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74C3C"/>
                </a:solidFill>
              </a:rPr>
              <a:t>56.64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2670048"/>
            <a:ext cx="1051560" cy="329184"/>
          </a:xfrm>
          <a:prstGeom prst="rect">
            <a:avLst/>
          </a:prstGeom>
          <a:solidFill>
            <a:srgbClr val="162A3C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4632" y="269748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D0E8F2"/>
                </a:solidFill>
              </a:rPr>
              <a:t>Small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554480" y="2670048"/>
            <a:ext cx="960120" cy="329184"/>
          </a:xfrm>
          <a:prstGeom prst="rect">
            <a:avLst/>
          </a:prstGeom>
          <a:solidFill>
            <a:srgbClr val="162A3C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581912" y="269748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D0E8F2"/>
                </a:solidFill>
              </a:rPr>
              <a:t>32,096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560320" y="2670048"/>
            <a:ext cx="685800" cy="329184"/>
          </a:xfrm>
          <a:prstGeom prst="rect">
            <a:avLst/>
          </a:prstGeom>
          <a:solidFill>
            <a:srgbClr val="162A3C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587752" y="2697480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7B500"/>
                </a:solidFill>
              </a:rPr>
              <a:t>1.534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91840" y="2670048"/>
            <a:ext cx="685800" cy="329184"/>
          </a:xfrm>
          <a:prstGeom prst="rect">
            <a:avLst/>
          </a:prstGeom>
          <a:solidFill>
            <a:srgbClr val="162A3C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319272" y="2697480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7B500"/>
                </a:solidFill>
              </a:rPr>
              <a:t>0.980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023360" y="2670048"/>
            <a:ext cx="868680" cy="329184"/>
          </a:xfrm>
          <a:prstGeom prst="rect">
            <a:avLst/>
          </a:prstGeom>
          <a:solidFill>
            <a:srgbClr val="162A3C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050792" y="2697480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7B500"/>
                </a:solidFill>
              </a:rPr>
              <a:t>86.68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3035808"/>
            <a:ext cx="1051560" cy="329184"/>
          </a:xfrm>
          <a:prstGeom prst="rect">
            <a:avLst/>
          </a:prstGeom>
          <a:solidFill>
            <a:srgbClr val="162A3C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84632" y="306324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D0E8F2"/>
                </a:solidFill>
              </a:rPr>
              <a:t>Large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554480" y="3035808"/>
            <a:ext cx="960120" cy="329184"/>
          </a:xfrm>
          <a:prstGeom prst="rect">
            <a:avLst/>
          </a:prstGeom>
          <a:solidFill>
            <a:srgbClr val="162A3C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581912" y="306324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D0E8F2"/>
                </a:solidFill>
              </a:rPr>
              <a:t>110,592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560320" y="3035808"/>
            <a:ext cx="685800" cy="329184"/>
          </a:xfrm>
          <a:prstGeom prst="rect">
            <a:avLst/>
          </a:prstGeom>
          <a:solidFill>
            <a:srgbClr val="162A3C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587752" y="3063240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7B500"/>
                </a:solidFill>
              </a:rPr>
              <a:t>1.534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291840" y="3035808"/>
            <a:ext cx="685800" cy="329184"/>
          </a:xfrm>
          <a:prstGeom prst="rect">
            <a:avLst/>
          </a:prstGeom>
          <a:solidFill>
            <a:srgbClr val="162A3C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319272" y="3063240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7B500"/>
                </a:solidFill>
              </a:rPr>
              <a:t>0.980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023360" y="3035808"/>
            <a:ext cx="868680" cy="329184"/>
          </a:xfrm>
          <a:prstGeom prst="rect">
            <a:avLst/>
          </a:prstGeom>
          <a:solidFill>
            <a:srgbClr val="162A3C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050792" y="3063240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7B500"/>
                </a:solidFill>
              </a:rPr>
              <a:t>86.68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" y="3456432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Experiment B: Spline Order (CIFAR-10, 32K params)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7200" y="3822191"/>
            <a:ext cx="1051560" cy="320040"/>
          </a:xfrm>
          <a:prstGeom prst="rect">
            <a:avLst/>
          </a:prstGeom>
          <a:solidFill>
            <a:srgbClr val="00B4D8"/>
          </a:solidFill>
          <a:ln w="6350"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84632" y="3849624"/>
            <a:ext cx="1005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B2A"/>
                </a:solidFill>
              </a:rPr>
              <a:t>Model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554480" y="3822191"/>
            <a:ext cx="960120" cy="320040"/>
          </a:xfrm>
          <a:prstGeom prst="rect">
            <a:avLst/>
          </a:prstGeom>
          <a:solidFill>
            <a:srgbClr val="00B4D8"/>
          </a:solidFill>
          <a:ln w="6350"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581912" y="3849624"/>
            <a:ext cx="914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B2A"/>
                </a:solidFill>
              </a:rPr>
              <a:t>Params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560320" y="3822191"/>
            <a:ext cx="685800" cy="320040"/>
          </a:xfrm>
          <a:prstGeom prst="rect">
            <a:avLst/>
          </a:prstGeom>
          <a:solidFill>
            <a:srgbClr val="00B4D8"/>
          </a:solidFill>
          <a:ln w="6350"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587752" y="3849624"/>
            <a:ext cx="6400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B2A"/>
                </a:solidFill>
              </a:rPr>
              <a:t>α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291840" y="3822191"/>
            <a:ext cx="685800" cy="320040"/>
          </a:xfrm>
          <a:prstGeom prst="rect">
            <a:avLst/>
          </a:prstGeom>
          <a:solidFill>
            <a:srgbClr val="00B4D8"/>
          </a:solidFill>
          <a:ln w="6350"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319272" y="3849624"/>
            <a:ext cx="6400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B2A"/>
                </a:solidFill>
              </a:rPr>
              <a:t>R²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023360" y="3822191"/>
            <a:ext cx="868680" cy="320040"/>
          </a:xfrm>
          <a:prstGeom prst="rect">
            <a:avLst/>
          </a:prstGeom>
          <a:solidFill>
            <a:srgbClr val="00B4D8"/>
          </a:solidFill>
          <a:ln w="6350"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050792" y="3849624"/>
            <a:ext cx="822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B2A"/>
                </a:solidFill>
              </a:rPr>
              <a:t>C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57200" y="4160520"/>
            <a:ext cx="1051560" cy="329184"/>
          </a:xfrm>
          <a:prstGeom prst="rect">
            <a:avLst/>
          </a:prstGeom>
          <a:solidFill>
            <a:srgbClr val="162A3C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84632" y="4187952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D0E8F2"/>
                </a:solidFill>
              </a:rPr>
              <a:t>p=2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554480" y="4160520"/>
            <a:ext cx="960120" cy="329184"/>
          </a:xfrm>
          <a:prstGeom prst="rect">
            <a:avLst/>
          </a:prstGeom>
          <a:solidFill>
            <a:srgbClr val="162A3C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581912" y="4187952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D0E8F2"/>
                </a:solidFill>
              </a:rPr>
              <a:t>29,008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560320" y="4160520"/>
            <a:ext cx="685800" cy="329184"/>
          </a:xfrm>
          <a:prstGeom prst="rect">
            <a:avLst/>
          </a:prstGeom>
          <a:solidFill>
            <a:srgbClr val="162A3C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587752" y="4187952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7B500"/>
                </a:solidFill>
              </a:rPr>
              <a:t>1.534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291840" y="4160520"/>
            <a:ext cx="685800" cy="329184"/>
          </a:xfrm>
          <a:prstGeom prst="rect">
            <a:avLst/>
          </a:prstGeom>
          <a:solidFill>
            <a:srgbClr val="162A3C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319272" y="4187952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7B500"/>
                </a:solidFill>
              </a:rPr>
              <a:t>0.980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023360" y="4160520"/>
            <a:ext cx="868680" cy="329184"/>
          </a:xfrm>
          <a:prstGeom prst="rect">
            <a:avLst/>
          </a:prstGeom>
          <a:solidFill>
            <a:srgbClr val="162A3C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050792" y="418795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7B500"/>
                </a:solidFill>
              </a:rPr>
              <a:t>86.68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57200" y="4526280"/>
            <a:ext cx="1051560" cy="329184"/>
          </a:xfrm>
          <a:prstGeom prst="rect">
            <a:avLst/>
          </a:prstGeom>
          <a:solidFill>
            <a:srgbClr val="162A3C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84632" y="4553712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D0E8F2"/>
                </a:solidFill>
              </a:rPr>
              <a:t>p=3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554480" y="4526280"/>
            <a:ext cx="960120" cy="329184"/>
          </a:xfrm>
          <a:prstGeom prst="rect">
            <a:avLst/>
          </a:prstGeom>
          <a:solidFill>
            <a:srgbClr val="162A3C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581912" y="4553712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D0E8F2"/>
                </a:solidFill>
              </a:rPr>
              <a:t>32,096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560320" y="4526280"/>
            <a:ext cx="685800" cy="329184"/>
          </a:xfrm>
          <a:prstGeom prst="rect">
            <a:avLst/>
          </a:prstGeom>
          <a:solidFill>
            <a:srgbClr val="162A3C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2587752" y="4553712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7B500"/>
                </a:solidFill>
              </a:rPr>
              <a:t>1.534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291840" y="4526280"/>
            <a:ext cx="685800" cy="329184"/>
          </a:xfrm>
          <a:prstGeom prst="rect">
            <a:avLst/>
          </a:prstGeom>
          <a:solidFill>
            <a:srgbClr val="162A3C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3319272" y="4553712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7B500"/>
                </a:solidFill>
              </a:rPr>
              <a:t>0.980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023360" y="4526280"/>
            <a:ext cx="868680" cy="329184"/>
          </a:xfrm>
          <a:prstGeom prst="rect">
            <a:avLst/>
          </a:prstGeom>
          <a:solidFill>
            <a:srgbClr val="162A3C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4050792" y="455371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7B500"/>
                </a:solidFill>
              </a:rPr>
              <a:t>86.68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57200" y="4892040"/>
            <a:ext cx="1051560" cy="329184"/>
          </a:xfrm>
          <a:prstGeom prst="rect">
            <a:avLst/>
          </a:prstGeom>
          <a:solidFill>
            <a:srgbClr val="162A3C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484632" y="4919472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D0E8F2"/>
                </a:solidFill>
              </a:rPr>
              <a:t>p=5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554480" y="4892040"/>
            <a:ext cx="960120" cy="329184"/>
          </a:xfrm>
          <a:prstGeom prst="rect">
            <a:avLst/>
          </a:prstGeom>
          <a:solidFill>
            <a:srgbClr val="162A3C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581912" y="4919472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D0E8F2"/>
                </a:solidFill>
              </a:rPr>
              <a:t>38,272</a:t>
            </a:r>
          </a:p>
        </p:txBody>
      </p:sp>
      <p:sp>
        <p:nvSpPr>
          <p:cNvPr id="83" name="Rectangle 82"/>
          <p:cNvSpPr/>
          <p:nvPr/>
        </p:nvSpPr>
        <p:spPr>
          <a:xfrm>
            <a:off x="2560320" y="4892040"/>
            <a:ext cx="685800" cy="329184"/>
          </a:xfrm>
          <a:prstGeom prst="rect">
            <a:avLst/>
          </a:prstGeom>
          <a:solidFill>
            <a:srgbClr val="162A3C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2587752" y="4919472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7B500"/>
                </a:solidFill>
              </a:rPr>
              <a:t>1.534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291840" y="4892040"/>
            <a:ext cx="685800" cy="329184"/>
          </a:xfrm>
          <a:prstGeom prst="rect">
            <a:avLst/>
          </a:prstGeom>
          <a:solidFill>
            <a:srgbClr val="162A3C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319272" y="4919472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7B500"/>
                </a:solidFill>
              </a:rPr>
              <a:t>0.980</a:t>
            </a:r>
          </a:p>
        </p:txBody>
      </p:sp>
      <p:sp>
        <p:nvSpPr>
          <p:cNvPr id="87" name="Rectangle 86"/>
          <p:cNvSpPr/>
          <p:nvPr/>
        </p:nvSpPr>
        <p:spPr>
          <a:xfrm>
            <a:off x="4023360" y="4892040"/>
            <a:ext cx="868680" cy="329184"/>
          </a:xfrm>
          <a:prstGeom prst="rect">
            <a:avLst/>
          </a:prstGeom>
          <a:solidFill>
            <a:srgbClr val="162A3C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4050792" y="491947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7B500"/>
                </a:solidFill>
              </a:rPr>
              <a:t>86.68</a:t>
            </a:r>
          </a:p>
        </p:txBody>
      </p:sp>
      <p:sp>
        <p:nvSpPr>
          <p:cNvPr id="89" name="Rectangle 88"/>
          <p:cNvSpPr/>
          <p:nvPr/>
        </p:nvSpPr>
        <p:spPr>
          <a:xfrm>
            <a:off x="5943600" y="1600200"/>
            <a:ext cx="5943600" cy="4937760"/>
          </a:xfrm>
          <a:prstGeom prst="rect">
            <a:avLst/>
          </a:prstGeom>
          <a:solidFill>
            <a:srgbClr val="162A3C"/>
          </a:solidFill>
          <a:ln w="19050">
            <a:solidFill>
              <a:srgbClr val="F7B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6080760" y="1673352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7B500"/>
                </a:solidFill>
              </a:rPr>
              <a:t>What invariance means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126480" y="2084831"/>
            <a:ext cx="5577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B4D8"/>
                </a:solidFill>
              </a:rPr>
              <a:t>α ≈ 1.534 is identical for: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126480" y="2386583"/>
            <a:ext cx="5577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E8F2"/>
                </a:solidFill>
              </a:rPr>
              <a:t>  • 32K params (3 conv + KAN [48,16])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126480" y="2688335"/>
            <a:ext cx="5577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E8F2"/>
                </a:solidFill>
              </a:rPr>
              <a:t>  • 110K params (4 conv + KAN [96,32])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126480" y="2990087"/>
            <a:ext cx="5577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E8F2"/>
                </a:solidFill>
              </a:rPr>
              <a:t>  • Spline order p = 2, 3, 5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126480" y="3291839"/>
            <a:ext cx="5577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6126480" y="3593591"/>
            <a:ext cx="5577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E8F2"/>
                </a:solidFill>
              </a:rPr>
              <a:t>K* grid points {1, 2, 5, 7, 15} are identical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126480" y="3895343"/>
            <a:ext cx="5577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E8F2"/>
                </a:solidFill>
              </a:rPr>
              <a:t>across all well-parameterised models.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6126480" y="4197095"/>
            <a:ext cx="5577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B4D8"/>
                </a:solidFill>
              </a:rPr>
              <a:t>→ identical power-law fit.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6126480" y="4498847"/>
            <a:ext cx="5577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6126480" y="4800599"/>
            <a:ext cx="5577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74C3C"/>
                </a:solidFill>
              </a:rPr>
              <a:t>Exception: tiny model (5,808 params)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6126480" y="5102351"/>
            <a:ext cx="5577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74C3C"/>
                </a:solidFill>
              </a:rPr>
              <a:t>  gives α=1.36 (11% reduction).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6126480" y="5404103"/>
            <a:ext cx="5577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E8F2"/>
                </a:solidFill>
              </a:rPr>
              <a:t>  Under-parameterised → energy surface too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6126480" y="5705855"/>
            <a:ext cx="5577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E8F2"/>
                </a:solidFill>
              </a:rPr>
              <a:t>  rough to support deep iteration.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6126480" y="6007607"/>
            <a:ext cx="5577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6126480" y="6309359"/>
            <a:ext cx="5577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7B500"/>
                </a:solidFill>
              </a:rPr>
              <a:t>Constant C shifts per (model, dataset):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6126480" y="6611111"/>
            <a:ext cx="5577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E8F2"/>
                </a:solidFill>
              </a:rPr>
              <a:t>  CIFAR: C=86.68  |  CelebA: C=56.64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6126480" y="6912863"/>
            <a:ext cx="5577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B4D8"/>
                </a:solidFill>
              </a:rPr>
              <a:t>  → re-fit C, treat α as a universal prior.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6126480" y="7214615"/>
            <a:ext cx="5577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6126480" y="7516367"/>
            <a:ext cx="5577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7B500"/>
                </a:solidFill>
              </a:rPr>
              <a:t>Theoretical explanation: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6126480" y="7818119"/>
            <a:ext cx="5577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E8F2"/>
                </a:solidFill>
              </a:rPr>
              <a:t>  Smooth B-splines of any degree p≥2 yield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6126480" y="8119871"/>
            <a:ext cx="5577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E8F2"/>
                </a:solidFill>
              </a:rPr>
              <a:t>  C^p landscapes. The iteration count is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6126480" y="8421623"/>
            <a:ext cx="5577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E8F2"/>
                </a:solidFill>
              </a:rPr>
              <a:t>  controlled by the corruption geometry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6126480" y="8723375"/>
            <a:ext cx="5577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E8F2"/>
                </a:solidFill>
              </a:rPr>
              <a:t>  (σ), not the landscape regularity (p).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D1B2A"/>
                </a:solidFill>
              </a:rPr>
              <a:t>Falsifiable Boundary: Deblurring Breaks the Law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2179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0D1B2A"/>
                </a:solidFill>
              </a:rPr>
              <a:t>K*(σ_blur) is constant — the σ^α scaling is specific to i.i.d. denoising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87552"/>
            <a:ext cx="121889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5156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D0E8F2"/>
                </a:solidFill>
              </a:rPr>
              <a:t>We intentionally tested whether the K* law generalises beyond Gaussian denoising. It does not — and we report this as a precise, falsifiable boundary.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727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K* under Gaussian-blur deblurring (6 blur widths)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938528"/>
            <a:ext cx="1737360" cy="320040"/>
          </a:xfrm>
          <a:prstGeom prst="rect">
            <a:avLst/>
          </a:prstGeom>
          <a:solidFill>
            <a:srgbClr val="00B4D8"/>
          </a:solidFill>
          <a:ln w="6350"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965960"/>
            <a:ext cx="16459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B2A"/>
                </a:solidFill>
              </a:rPr>
              <a:t>σ_blur=0.50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276856"/>
            <a:ext cx="1737360" cy="347472"/>
          </a:xfrm>
          <a:prstGeom prst="rect">
            <a:avLst/>
          </a:prstGeom>
          <a:solidFill>
            <a:srgbClr val="162A3C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30428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74C3C"/>
                </a:solidFill>
              </a:rPr>
              <a:t>K* = 30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31720" y="1938528"/>
            <a:ext cx="1737360" cy="320040"/>
          </a:xfrm>
          <a:prstGeom prst="rect">
            <a:avLst/>
          </a:prstGeom>
          <a:solidFill>
            <a:srgbClr val="00B4D8"/>
          </a:solidFill>
          <a:ln w="6350"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77440" y="1965960"/>
            <a:ext cx="16459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B2A"/>
                </a:solidFill>
              </a:rPr>
              <a:t>σ_blur=0.75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31720" y="2276856"/>
            <a:ext cx="1737360" cy="347472"/>
          </a:xfrm>
          <a:prstGeom prst="rect">
            <a:avLst/>
          </a:prstGeom>
          <a:solidFill>
            <a:srgbClr val="162A3C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77440" y="230428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7B500"/>
                </a:solidFill>
              </a:rPr>
              <a:t>K* = 20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06240" y="1938528"/>
            <a:ext cx="1737360" cy="320040"/>
          </a:xfrm>
          <a:prstGeom prst="rect">
            <a:avLst/>
          </a:prstGeom>
          <a:solidFill>
            <a:srgbClr val="00B4D8"/>
          </a:solidFill>
          <a:ln w="6350"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51960" y="1965960"/>
            <a:ext cx="16459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B2A"/>
                </a:solidFill>
              </a:rPr>
              <a:t>σ_blur=1.00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06240" y="2276856"/>
            <a:ext cx="1737360" cy="347472"/>
          </a:xfrm>
          <a:prstGeom prst="rect">
            <a:avLst/>
          </a:prstGeom>
          <a:solidFill>
            <a:srgbClr val="162A3C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51960" y="230428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7B500"/>
                </a:solidFill>
              </a:rPr>
              <a:t>K* = 20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80759" y="1938528"/>
            <a:ext cx="1737360" cy="320040"/>
          </a:xfrm>
          <a:prstGeom prst="rect">
            <a:avLst/>
          </a:prstGeom>
          <a:solidFill>
            <a:srgbClr val="00B4D8"/>
          </a:solidFill>
          <a:ln w="6350"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79" y="1965960"/>
            <a:ext cx="16459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B2A"/>
                </a:solidFill>
              </a:rPr>
              <a:t>σ_blur=1.25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80759" y="2276856"/>
            <a:ext cx="1737360" cy="347472"/>
          </a:xfrm>
          <a:prstGeom prst="rect">
            <a:avLst/>
          </a:prstGeom>
          <a:solidFill>
            <a:srgbClr val="162A3C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26479" y="230428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7B500"/>
                </a:solidFill>
              </a:rPr>
              <a:t>K* = 20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955279" y="1938528"/>
            <a:ext cx="1737360" cy="320040"/>
          </a:xfrm>
          <a:prstGeom prst="rect">
            <a:avLst/>
          </a:prstGeom>
          <a:solidFill>
            <a:srgbClr val="00B4D8"/>
          </a:solidFill>
          <a:ln w="6350"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00999" y="1965960"/>
            <a:ext cx="16459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B2A"/>
                </a:solidFill>
              </a:rPr>
              <a:t>σ_blur=1.50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955279" y="2276856"/>
            <a:ext cx="1737360" cy="347472"/>
          </a:xfrm>
          <a:prstGeom prst="rect">
            <a:avLst/>
          </a:prstGeom>
          <a:solidFill>
            <a:srgbClr val="162A3C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00999" y="230428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7B500"/>
                </a:solidFill>
              </a:rPr>
              <a:t>K* = 20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829800" y="1938528"/>
            <a:ext cx="1737360" cy="320040"/>
          </a:xfrm>
          <a:prstGeom prst="rect">
            <a:avLst/>
          </a:prstGeom>
          <a:solidFill>
            <a:srgbClr val="00B4D8"/>
          </a:solidFill>
          <a:ln w="6350"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875520" y="1965960"/>
            <a:ext cx="16459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B2A"/>
                </a:solidFill>
              </a:rPr>
              <a:t>σ_blur=2.00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829800" y="2276856"/>
            <a:ext cx="1737360" cy="347472"/>
          </a:xfrm>
          <a:prstGeom prst="rect">
            <a:avLst/>
          </a:prstGeom>
          <a:solidFill>
            <a:srgbClr val="162A3C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875520" y="230428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7B500"/>
                </a:solidFill>
              </a:rPr>
              <a:t>K* = 20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2743200"/>
            <a:ext cx="5303520" cy="3794760"/>
          </a:xfrm>
          <a:prstGeom prst="rect">
            <a:avLst/>
          </a:prstGeom>
          <a:solidFill>
            <a:srgbClr val="162A3C"/>
          </a:solidFill>
          <a:ln w="1905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" y="281635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74C3C"/>
                </a:solidFill>
              </a:rPr>
              <a:t>Power-law fit — deblurring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3182112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D0E8F2"/>
                </a:solidFill>
              </a:rPr>
              <a:t>K*(σ_blur) ~ 86.7 · σ_blur^α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3502152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3822192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E74C3C"/>
                </a:solidFill>
              </a:rPr>
              <a:t>Fitted: α = −0.246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4142232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E74C3C"/>
                </a:solidFill>
              </a:rPr>
              <a:t>R² = 0.54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4462272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4782312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00B4D8"/>
                </a:solidFill>
              </a:rPr>
              <a:t>Compare denoising: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5102352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ECC71"/>
                </a:solidFill>
              </a:rPr>
              <a:t>  α = +1.534,  R² = 0.98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" y="5422392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" y="5742432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D0E8F2"/>
                </a:solidFill>
              </a:rPr>
              <a:t>Collapsed fit: the law is not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" y="6062472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D0E8F2"/>
                </a:solidFill>
              </a:rPr>
              <a:t>a universal property of inverse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" y="6382512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D0E8F2"/>
                </a:solidFill>
              </a:rPr>
              <a:t>problems — it is specific to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080" y="6702552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D0E8F2"/>
                </a:solidFill>
              </a:rPr>
              <a:t>i.i.d. additive noise.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" y="7022592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" y="7342632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D0E8F2"/>
                </a:solidFill>
              </a:rPr>
              <a:t>K* ≈ 20 constant for σ_blur ∈ [0.75, 2.0]: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0080" y="7662672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D0E8F2"/>
                </a:solidFill>
              </a:rPr>
              <a:t>  iteration count driven by the difficulty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0080" y="7982712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D0E8F2"/>
                </a:solidFill>
              </a:rPr>
              <a:t>  of inverting the blur operator, not σ.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943600" y="2743200"/>
            <a:ext cx="5943600" cy="3794760"/>
          </a:xfrm>
          <a:prstGeom prst="rect">
            <a:avLst/>
          </a:prstGeom>
          <a:solidFill>
            <a:srgbClr val="162A3C"/>
          </a:solidFill>
          <a:ln w="19050">
            <a:solidFill>
              <a:srgbClr val="F7B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080760" y="2816352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7B500"/>
                </a:solidFill>
              </a:rPr>
              <a:t>Why the law breaks — and why that's good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126480" y="3182112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B4D8"/>
                </a:solidFill>
              </a:rPr>
              <a:t>The K*(σ) law assumes: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126480" y="3502152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E8F2"/>
                </a:solidFill>
              </a:rPr>
              <a:t>  distance to clean manifold ∝ σ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126480" y="3822192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E8F2"/>
                </a:solidFill>
              </a:rPr>
              <a:t>  → iteration count ∝ σ^α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126480" y="4142232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126480" y="4462272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74C3C"/>
                </a:solidFill>
              </a:rPr>
              <a:t>Blur violates this: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126480" y="4782312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E8F2"/>
                </a:solidFill>
              </a:rPr>
              <a:t>  The corrupted manifold is deformed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126480" y="5102352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E8F2"/>
                </a:solidFill>
              </a:rPr>
              <a:t>  by the point-spread function, not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126480" y="5422392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E8F2"/>
                </a:solidFill>
              </a:rPr>
              <a:t>  shifted by isotropic noise.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126480" y="5742432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E8F2"/>
                </a:solidFill>
              </a:rPr>
              <a:t>  σ_blur does not index traversal distance.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126480" y="6062472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126480" y="6382512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ECC71"/>
                </a:solidFill>
              </a:rPr>
              <a:t>Scientific value: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126480" y="6702552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E8F2"/>
                </a:solidFill>
              </a:rPr>
              <a:t>  A falsifiable boundary makes our claim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126480" y="7022592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E8F2"/>
                </a:solidFill>
              </a:rPr>
              <a:t>  stronger, not weaker.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126480" y="7342632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E8F2"/>
                </a:solidFill>
              </a:rPr>
              <a:t>  We know exactly when it applies.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126480" y="7662672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126480" y="7982712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E8F2"/>
                </a:solidFill>
              </a:rPr>
              <a:t>Future work: extend K* theory to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126480" y="8302752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E8F2"/>
                </a:solidFill>
              </a:rPr>
              <a:t>  non-i.i.d. corruptions via operator norm.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D1B2A"/>
                </a:solidFill>
              </a:rPr>
              <a:t>Multi-Task Restoration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2179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0D1B2A"/>
                </a:solidFill>
              </a:rPr>
              <a:t>One KAN-EBM trained jointly on denoising, deblurring, super-resolution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87552"/>
            <a:ext cx="121889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5156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D0E8F2"/>
                </a:solidFill>
              </a:rPr>
              <a:t>The energy function is task-agnostic: E_θ(x) scores image quality regardless of corruption type. A single KAN-EBM fine-tuned with a compound DSM loss handles all tasks.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691640"/>
            <a:ext cx="11430000" cy="777240"/>
          </a:xfrm>
          <a:prstGeom prst="rect">
            <a:avLst/>
          </a:prstGeom>
          <a:solidFill>
            <a:srgbClr val="162A3C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76479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Denoising (σ=0.15)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1728216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ECC71"/>
                </a:solidFill>
              </a:rPr>
              <a:t>+4.55 dB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1764792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0E8F2"/>
                </a:solidFill>
              </a:rPr>
              <a:t>vs. MLP-EBM; K*=5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587752"/>
            <a:ext cx="11430000" cy="777240"/>
          </a:xfrm>
          <a:prstGeom prst="rect">
            <a:avLst/>
          </a:prstGeom>
          <a:solidFill>
            <a:srgbClr val="162A3C"/>
          </a:solidFill>
          <a:ln w="19050">
            <a:solidFill>
              <a:srgbClr val="F7B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660904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Deblurring (σ_blur=1.0)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2624328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7B500"/>
                </a:solidFill>
              </a:rPr>
              <a:t>parity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2660904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0E8F2"/>
                </a:solidFill>
              </a:rPr>
              <a:t>K* constant=20, task-hard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483864"/>
            <a:ext cx="11430000" cy="777240"/>
          </a:xfrm>
          <a:prstGeom prst="rect">
            <a:avLst/>
          </a:prstGeom>
          <a:solidFill>
            <a:srgbClr val="162A3C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557016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Super-resolution 2×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352044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B4D8"/>
                </a:solidFill>
              </a:rPr>
              <a:t>+1.8 dB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3557016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0E8F2"/>
                </a:solidFill>
              </a:rPr>
              <a:t>over bicubic start; K*=3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379976"/>
            <a:ext cx="11430000" cy="777240"/>
          </a:xfrm>
          <a:prstGeom prst="rect">
            <a:avLst/>
          </a:prstGeom>
          <a:solidFill>
            <a:srgbClr val="162A3C"/>
          </a:solidFill>
          <a:ln w="1905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45312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Super-resolution 4×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0" y="4416552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E74C3C"/>
                </a:solidFill>
              </a:rPr>
              <a:t>+0.25 dB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4453128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0E8F2"/>
                </a:solidFill>
              </a:rPr>
              <a:t>near-parity; bicubic dominates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5276088"/>
            <a:ext cx="11430000" cy="777240"/>
          </a:xfrm>
          <a:prstGeom prst="rect">
            <a:avLst/>
          </a:prstGeom>
          <a:solidFill>
            <a:srgbClr val="162A3C"/>
          </a:solidFill>
          <a:ln w="1905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53492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JPEG artifact removal Q=10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97680" y="5312664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E74C3C"/>
                </a:solidFill>
              </a:rPr>
              <a:t>+0.60 dB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0" y="5349240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0E8F2"/>
                </a:solidFill>
              </a:rPr>
              <a:t>K*=2; degrades beyond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6263640"/>
            <a:ext cx="11430000" cy="457200"/>
          </a:xfrm>
          <a:prstGeom prst="rect">
            <a:avLst/>
          </a:prstGeom>
          <a:solidFill>
            <a:srgbClr val="052030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6309360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00B4D8"/>
                </a:solidFill>
              </a:rPr>
              <a:t>Pattern: KAN-EBM succeeds on smooth, perceptual corruptions. Fails on high-frequency periodic artifacts (JPEG blocking) — matches the inductive bias analysis (Lane B).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D1B2A"/>
                </a:solidFill>
              </a:rPr>
              <a:t>Honest SOTA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2179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0D1B2A"/>
                </a:solidFill>
              </a:rPr>
              <a:t>KAN-EBM is not best-in-class on PSNR — it occupies a different Pareto point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87552"/>
            <a:ext cx="121889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097280"/>
            <a:ext cx="1975104" cy="402336"/>
          </a:xfrm>
          <a:prstGeom prst="rect">
            <a:avLst/>
          </a:prstGeom>
          <a:solidFill>
            <a:srgbClr val="00B4D8"/>
          </a:solidFill>
          <a:ln w="6350"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" y="1115568"/>
            <a:ext cx="19019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Method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0" y="1097280"/>
            <a:ext cx="1152144" cy="402336"/>
          </a:xfrm>
          <a:prstGeom prst="rect">
            <a:avLst/>
          </a:prstGeom>
          <a:solidFill>
            <a:srgbClr val="00B4D8"/>
          </a:solidFill>
          <a:ln w="6350"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22576" y="1115568"/>
            <a:ext cx="10789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Params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74720" y="1097280"/>
            <a:ext cx="1426464" cy="402336"/>
          </a:xfrm>
          <a:prstGeom prst="rect">
            <a:avLst/>
          </a:prstGeom>
          <a:solidFill>
            <a:srgbClr val="00B4D8"/>
          </a:solidFill>
          <a:ln w="6350"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11296" y="1115568"/>
            <a:ext cx="1353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PSNR
(CIFAR σ=0.15)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37760" y="1097280"/>
            <a:ext cx="1426464" cy="402336"/>
          </a:xfrm>
          <a:prstGeom prst="rect">
            <a:avLst/>
          </a:prstGeom>
          <a:solidFill>
            <a:srgbClr val="00B4D8"/>
          </a:solidFill>
          <a:ln w="6350"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74336" y="1115568"/>
            <a:ext cx="1353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FLOPs
(per pass)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1097280"/>
            <a:ext cx="1335024" cy="402336"/>
          </a:xfrm>
          <a:prstGeom prst="rect">
            <a:avLst/>
          </a:prstGeom>
          <a:solidFill>
            <a:srgbClr val="00B4D8"/>
          </a:solidFill>
          <a:ln w="6350"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37376" y="1115568"/>
            <a:ext cx="12618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Test-time
scaling?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0" y="1097280"/>
            <a:ext cx="1243584" cy="402336"/>
          </a:xfrm>
          <a:prstGeom prst="rect">
            <a:avLst/>
          </a:prstGeom>
          <a:solidFill>
            <a:srgbClr val="00B4D8"/>
          </a:solidFill>
          <a:ln w="6350"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08976" y="1115568"/>
            <a:ext cx="11704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&lt; 100K
params?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1536192"/>
            <a:ext cx="1975104" cy="402336"/>
          </a:xfrm>
          <a:prstGeom prst="rect">
            <a:avLst/>
          </a:prstGeom>
          <a:solidFill>
            <a:srgbClr val="162A3C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10896" y="1554480"/>
            <a:ext cx="19019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0E8F2"/>
                </a:solidFill>
              </a:rPr>
              <a:t>DnCNN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86000" y="1536192"/>
            <a:ext cx="1152144" cy="402336"/>
          </a:xfrm>
          <a:prstGeom prst="rect">
            <a:avLst/>
          </a:prstGeom>
          <a:solidFill>
            <a:srgbClr val="162A3C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322576" y="1554480"/>
            <a:ext cx="10789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0E8F2"/>
                </a:solidFill>
              </a:rPr>
              <a:t>556K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474720" y="1536192"/>
            <a:ext cx="1426464" cy="402336"/>
          </a:xfrm>
          <a:prstGeom prst="rect">
            <a:avLst/>
          </a:prstGeom>
          <a:solidFill>
            <a:srgbClr val="162A3C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11296" y="1554480"/>
            <a:ext cx="1353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0E8F2"/>
                </a:solidFill>
              </a:rPr>
              <a:t>29.5 dB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937760" y="1536192"/>
            <a:ext cx="1426464" cy="402336"/>
          </a:xfrm>
          <a:prstGeom prst="rect">
            <a:avLst/>
          </a:prstGeom>
          <a:solidFill>
            <a:srgbClr val="162A3C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974336" y="1554480"/>
            <a:ext cx="1353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0E8F2"/>
                </a:solidFill>
              </a:rPr>
              <a:t>Medium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1536192"/>
            <a:ext cx="1335024" cy="402336"/>
          </a:xfrm>
          <a:prstGeom prst="rect">
            <a:avLst/>
          </a:prstGeom>
          <a:solidFill>
            <a:srgbClr val="162A3C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37376" y="1554480"/>
            <a:ext cx="12618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74C3C"/>
                </a:solidFill>
              </a:rPr>
              <a:t>No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0" y="1536192"/>
            <a:ext cx="1243584" cy="402336"/>
          </a:xfrm>
          <a:prstGeom prst="rect">
            <a:avLst/>
          </a:prstGeom>
          <a:solidFill>
            <a:srgbClr val="162A3C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08976" y="1554480"/>
            <a:ext cx="11704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74C3C"/>
                </a:solidFill>
              </a:rPr>
              <a:t>No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1975104"/>
            <a:ext cx="1975104" cy="402336"/>
          </a:xfrm>
          <a:prstGeom prst="rect">
            <a:avLst/>
          </a:prstGeom>
          <a:solidFill>
            <a:srgbClr val="162A3C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10896" y="1993392"/>
            <a:ext cx="19019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0E8F2"/>
                </a:solidFill>
              </a:rPr>
              <a:t>SwinIR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286000" y="1975104"/>
            <a:ext cx="1152144" cy="402336"/>
          </a:xfrm>
          <a:prstGeom prst="rect">
            <a:avLst/>
          </a:prstGeom>
          <a:solidFill>
            <a:srgbClr val="162A3C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322576" y="1993392"/>
            <a:ext cx="10789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0E8F2"/>
                </a:solidFill>
              </a:rPr>
              <a:t>11.9M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474720" y="1975104"/>
            <a:ext cx="1426464" cy="402336"/>
          </a:xfrm>
          <a:prstGeom prst="rect">
            <a:avLst/>
          </a:prstGeom>
          <a:solidFill>
            <a:srgbClr val="162A3C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511296" y="1993392"/>
            <a:ext cx="1353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0E8F2"/>
                </a:solidFill>
              </a:rPr>
              <a:t>31.2 dB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937760" y="1975104"/>
            <a:ext cx="1426464" cy="402336"/>
          </a:xfrm>
          <a:prstGeom prst="rect">
            <a:avLst/>
          </a:prstGeom>
          <a:solidFill>
            <a:srgbClr val="162A3C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974336" y="1993392"/>
            <a:ext cx="1353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0E8F2"/>
                </a:solidFill>
              </a:rPr>
              <a:t>High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0" y="1975104"/>
            <a:ext cx="1335024" cy="402336"/>
          </a:xfrm>
          <a:prstGeom prst="rect">
            <a:avLst/>
          </a:prstGeom>
          <a:solidFill>
            <a:srgbClr val="162A3C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37376" y="1993392"/>
            <a:ext cx="12618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74C3C"/>
                </a:solidFill>
              </a:rPr>
              <a:t>No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772400" y="1975104"/>
            <a:ext cx="1243584" cy="402336"/>
          </a:xfrm>
          <a:prstGeom prst="rect">
            <a:avLst/>
          </a:prstGeom>
          <a:solidFill>
            <a:srgbClr val="162A3C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808976" y="1993392"/>
            <a:ext cx="11704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74C3C"/>
                </a:solidFill>
              </a:rPr>
              <a:t>No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74320" y="2414015"/>
            <a:ext cx="1975104" cy="402336"/>
          </a:xfrm>
          <a:prstGeom prst="rect">
            <a:avLst/>
          </a:prstGeom>
          <a:solidFill>
            <a:srgbClr val="162A3C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10896" y="2432303"/>
            <a:ext cx="19019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0E8F2"/>
                </a:solidFill>
              </a:rPr>
              <a:t>Restormer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286000" y="2414015"/>
            <a:ext cx="1152144" cy="402336"/>
          </a:xfrm>
          <a:prstGeom prst="rect">
            <a:avLst/>
          </a:prstGeom>
          <a:solidFill>
            <a:srgbClr val="162A3C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322576" y="2432303"/>
            <a:ext cx="10789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0E8F2"/>
                </a:solidFill>
              </a:rPr>
              <a:t>26.1M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474720" y="2414015"/>
            <a:ext cx="1426464" cy="402336"/>
          </a:xfrm>
          <a:prstGeom prst="rect">
            <a:avLst/>
          </a:prstGeom>
          <a:solidFill>
            <a:srgbClr val="162A3C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511296" y="2432303"/>
            <a:ext cx="1353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0E8F2"/>
                </a:solidFill>
              </a:rPr>
              <a:t>32.0 dB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937760" y="2414015"/>
            <a:ext cx="1426464" cy="402336"/>
          </a:xfrm>
          <a:prstGeom prst="rect">
            <a:avLst/>
          </a:prstGeom>
          <a:solidFill>
            <a:srgbClr val="162A3C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974336" y="2432303"/>
            <a:ext cx="1353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0E8F2"/>
                </a:solidFill>
              </a:rPr>
              <a:t>Very high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400800" y="2414015"/>
            <a:ext cx="1335024" cy="402336"/>
          </a:xfrm>
          <a:prstGeom prst="rect">
            <a:avLst/>
          </a:prstGeom>
          <a:solidFill>
            <a:srgbClr val="162A3C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37376" y="2432303"/>
            <a:ext cx="12618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74C3C"/>
                </a:solidFill>
              </a:rPr>
              <a:t>No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772400" y="2414015"/>
            <a:ext cx="1243584" cy="402336"/>
          </a:xfrm>
          <a:prstGeom prst="rect">
            <a:avLst/>
          </a:prstGeom>
          <a:solidFill>
            <a:srgbClr val="162A3C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808976" y="2432303"/>
            <a:ext cx="11704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74C3C"/>
                </a:solidFill>
              </a:rPr>
              <a:t>No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74320" y="2852928"/>
            <a:ext cx="1975104" cy="402336"/>
          </a:xfrm>
          <a:prstGeom prst="rect">
            <a:avLst/>
          </a:prstGeom>
          <a:solidFill>
            <a:srgbClr val="162A3C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10896" y="2871216"/>
            <a:ext cx="19019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0E8F2"/>
                </a:solidFill>
              </a:rPr>
              <a:t>DDRM (diffusion)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286000" y="2852928"/>
            <a:ext cx="1152144" cy="402336"/>
          </a:xfrm>
          <a:prstGeom prst="rect">
            <a:avLst/>
          </a:prstGeom>
          <a:solidFill>
            <a:srgbClr val="162A3C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322576" y="2871216"/>
            <a:ext cx="10789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0E8F2"/>
                </a:solidFill>
              </a:rPr>
              <a:t>~300M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474720" y="2852928"/>
            <a:ext cx="1426464" cy="402336"/>
          </a:xfrm>
          <a:prstGeom prst="rect">
            <a:avLst/>
          </a:prstGeom>
          <a:solidFill>
            <a:srgbClr val="162A3C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511296" y="2871216"/>
            <a:ext cx="1353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0E8F2"/>
                </a:solidFill>
              </a:rPr>
              <a:t>29.8 dB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937760" y="2852928"/>
            <a:ext cx="1426464" cy="402336"/>
          </a:xfrm>
          <a:prstGeom prst="rect">
            <a:avLst/>
          </a:prstGeom>
          <a:solidFill>
            <a:srgbClr val="162A3C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974336" y="2871216"/>
            <a:ext cx="1353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0E8F2"/>
                </a:solidFill>
              </a:rPr>
              <a:t>Very high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400800" y="2852928"/>
            <a:ext cx="1335024" cy="402336"/>
          </a:xfrm>
          <a:prstGeom prst="rect">
            <a:avLst/>
          </a:prstGeom>
          <a:solidFill>
            <a:srgbClr val="162A3C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437376" y="2871216"/>
            <a:ext cx="12618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ECC71"/>
                </a:solidFill>
              </a:rPr>
              <a:t>Yes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772400" y="2852928"/>
            <a:ext cx="1243584" cy="402336"/>
          </a:xfrm>
          <a:prstGeom prst="rect">
            <a:avLst/>
          </a:prstGeom>
          <a:solidFill>
            <a:srgbClr val="162A3C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808976" y="2871216"/>
            <a:ext cx="11704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74C3C"/>
                </a:solidFill>
              </a:rPr>
              <a:t>No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74320" y="3291839"/>
            <a:ext cx="1975104" cy="402336"/>
          </a:xfrm>
          <a:prstGeom prst="rect">
            <a:avLst/>
          </a:prstGeom>
          <a:solidFill>
            <a:srgbClr val="162A3C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10896" y="3310127"/>
            <a:ext cx="19019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0E8F2"/>
                </a:solidFill>
              </a:rPr>
              <a:t>DPS (diffusion)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286000" y="3291839"/>
            <a:ext cx="1152144" cy="402336"/>
          </a:xfrm>
          <a:prstGeom prst="rect">
            <a:avLst/>
          </a:prstGeom>
          <a:solidFill>
            <a:srgbClr val="162A3C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322576" y="3310127"/>
            <a:ext cx="10789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0E8F2"/>
                </a:solidFill>
              </a:rPr>
              <a:t>~300M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474720" y="3291839"/>
            <a:ext cx="1426464" cy="402336"/>
          </a:xfrm>
          <a:prstGeom prst="rect">
            <a:avLst/>
          </a:prstGeom>
          <a:solidFill>
            <a:srgbClr val="162A3C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511296" y="3310127"/>
            <a:ext cx="1353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0E8F2"/>
                </a:solidFill>
              </a:rPr>
              <a:t>30.1 dB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937760" y="3291839"/>
            <a:ext cx="1426464" cy="402336"/>
          </a:xfrm>
          <a:prstGeom prst="rect">
            <a:avLst/>
          </a:prstGeom>
          <a:solidFill>
            <a:srgbClr val="162A3C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974336" y="3310127"/>
            <a:ext cx="1353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0E8F2"/>
                </a:solidFill>
              </a:rPr>
              <a:t>Very high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400800" y="3291839"/>
            <a:ext cx="1335024" cy="402336"/>
          </a:xfrm>
          <a:prstGeom prst="rect">
            <a:avLst/>
          </a:prstGeom>
          <a:solidFill>
            <a:srgbClr val="162A3C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437376" y="3310127"/>
            <a:ext cx="12618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ECC71"/>
                </a:solidFill>
              </a:rPr>
              <a:t>Yes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772400" y="3291839"/>
            <a:ext cx="1243584" cy="402336"/>
          </a:xfrm>
          <a:prstGeom prst="rect">
            <a:avLst/>
          </a:prstGeom>
          <a:solidFill>
            <a:srgbClr val="162A3C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808976" y="3310127"/>
            <a:ext cx="11704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74C3C"/>
                </a:solidFill>
              </a:rPr>
              <a:t>No</a:t>
            </a:r>
          </a:p>
        </p:txBody>
      </p:sp>
      <p:sp>
        <p:nvSpPr>
          <p:cNvPr id="78" name="Rectangle 77"/>
          <p:cNvSpPr/>
          <p:nvPr/>
        </p:nvSpPr>
        <p:spPr>
          <a:xfrm>
            <a:off x="274320" y="3730752"/>
            <a:ext cx="1975104" cy="402336"/>
          </a:xfrm>
          <a:prstGeom prst="rect">
            <a:avLst/>
          </a:prstGeom>
          <a:solidFill>
            <a:srgbClr val="200808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310896" y="3749040"/>
            <a:ext cx="19019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0E8F2"/>
                </a:solidFill>
              </a:rPr>
              <a:t>MLP-EBM (fair)</a:t>
            </a:r>
          </a:p>
        </p:txBody>
      </p:sp>
      <p:sp>
        <p:nvSpPr>
          <p:cNvPr id="80" name="Rectangle 79"/>
          <p:cNvSpPr/>
          <p:nvPr/>
        </p:nvSpPr>
        <p:spPr>
          <a:xfrm>
            <a:off x="2286000" y="3730752"/>
            <a:ext cx="1152144" cy="402336"/>
          </a:xfrm>
          <a:prstGeom prst="rect">
            <a:avLst/>
          </a:prstGeom>
          <a:solidFill>
            <a:srgbClr val="200808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322576" y="3749040"/>
            <a:ext cx="10789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0E8F2"/>
                </a:solidFill>
              </a:rPr>
              <a:t>97K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474720" y="3730752"/>
            <a:ext cx="1426464" cy="402336"/>
          </a:xfrm>
          <a:prstGeom prst="rect">
            <a:avLst/>
          </a:prstGeom>
          <a:solidFill>
            <a:srgbClr val="200808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511296" y="3749040"/>
            <a:ext cx="1353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0E8F2"/>
                </a:solidFill>
              </a:rPr>
              <a:t>20.5 dB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937760" y="3730752"/>
            <a:ext cx="1426464" cy="402336"/>
          </a:xfrm>
          <a:prstGeom prst="rect">
            <a:avLst/>
          </a:prstGeom>
          <a:solidFill>
            <a:srgbClr val="200808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974336" y="3749040"/>
            <a:ext cx="1353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0E8F2"/>
                </a:solidFill>
              </a:rPr>
              <a:t>Low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400800" y="3730752"/>
            <a:ext cx="1335024" cy="402336"/>
          </a:xfrm>
          <a:prstGeom prst="rect">
            <a:avLst/>
          </a:prstGeom>
          <a:solidFill>
            <a:srgbClr val="200808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437376" y="3749040"/>
            <a:ext cx="12618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74C3C"/>
                </a:solidFill>
              </a:rPr>
              <a:t>No</a:t>
            </a:r>
          </a:p>
        </p:txBody>
      </p:sp>
      <p:sp>
        <p:nvSpPr>
          <p:cNvPr id="88" name="Rectangle 87"/>
          <p:cNvSpPr/>
          <p:nvPr/>
        </p:nvSpPr>
        <p:spPr>
          <a:xfrm>
            <a:off x="7772400" y="3730752"/>
            <a:ext cx="1243584" cy="402336"/>
          </a:xfrm>
          <a:prstGeom prst="rect">
            <a:avLst/>
          </a:prstGeom>
          <a:solidFill>
            <a:srgbClr val="200808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7808976" y="3749040"/>
            <a:ext cx="11704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ECC71"/>
                </a:solidFill>
              </a:rPr>
              <a:t>Yes</a:t>
            </a:r>
          </a:p>
        </p:txBody>
      </p:sp>
      <p:sp>
        <p:nvSpPr>
          <p:cNvPr id="90" name="Rectangle 89"/>
          <p:cNvSpPr/>
          <p:nvPr/>
        </p:nvSpPr>
        <p:spPr>
          <a:xfrm>
            <a:off x="274320" y="4169663"/>
            <a:ext cx="1975104" cy="402336"/>
          </a:xfrm>
          <a:prstGeom prst="rect">
            <a:avLst/>
          </a:prstGeom>
          <a:solidFill>
            <a:srgbClr val="05280F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310896" y="4187951"/>
            <a:ext cx="19019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D0E8F2"/>
                </a:solidFill>
              </a:rPr>
              <a:t>KAN-EBM (ours)</a:t>
            </a:r>
          </a:p>
        </p:txBody>
      </p:sp>
      <p:sp>
        <p:nvSpPr>
          <p:cNvPr id="92" name="Rectangle 91"/>
          <p:cNvSpPr/>
          <p:nvPr/>
        </p:nvSpPr>
        <p:spPr>
          <a:xfrm>
            <a:off x="2286000" y="4169663"/>
            <a:ext cx="1152144" cy="402336"/>
          </a:xfrm>
          <a:prstGeom prst="rect">
            <a:avLst/>
          </a:prstGeom>
          <a:solidFill>
            <a:srgbClr val="05280F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2322576" y="4187951"/>
            <a:ext cx="10789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D0E8F2"/>
                </a:solidFill>
              </a:rPr>
              <a:t>32K–110K</a:t>
            </a:r>
          </a:p>
        </p:txBody>
      </p:sp>
      <p:sp>
        <p:nvSpPr>
          <p:cNvPr id="94" name="Rectangle 93"/>
          <p:cNvSpPr/>
          <p:nvPr/>
        </p:nvSpPr>
        <p:spPr>
          <a:xfrm>
            <a:off x="3474720" y="4169663"/>
            <a:ext cx="1426464" cy="402336"/>
          </a:xfrm>
          <a:prstGeom prst="rect">
            <a:avLst/>
          </a:prstGeom>
          <a:solidFill>
            <a:srgbClr val="05280F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3511296" y="4187951"/>
            <a:ext cx="1353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7B500"/>
                </a:solidFill>
              </a:rPr>
              <a:t>26.8 dB*</a:t>
            </a:r>
          </a:p>
        </p:txBody>
      </p:sp>
      <p:sp>
        <p:nvSpPr>
          <p:cNvPr id="96" name="Rectangle 95"/>
          <p:cNvSpPr/>
          <p:nvPr/>
        </p:nvSpPr>
        <p:spPr>
          <a:xfrm>
            <a:off x="4937760" y="4169663"/>
            <a:ext cx="1426464" cy="402336"/>
          </a:xfrm>
          <a:prstGeom prst="rect">
            <a:avLst/>
          </a:prstGeom>
          <a:solidFill>
            <a:srgbClr val="05280F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4974336" y="4187951"/>
            <a:ext cx="1353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D0E8F2"/>
                </a:solidFill>
              </a:rPr>
              <a:t>Low×K</a:t>
            </a:r>
          </a:p>
        </p:txBody>
      </p:sp>
      <p:sp>
        <p:nvSpPr>
          <p:cNvPr id="98" name="Rectangle 97"/>
          <p:cNvSpPr/>
          <p:nvPr/>
        </p:nvSpPr>
        <p:spPr>
          <a:xfrm>
            <a:off x="6400800" y="4169663"/>
            <a:ext cx="1335024" cy="402336"/>
          </a:xfrm>
          <a:prstGeom prst="rect">
            <a:avLst/>
          </a:prstGeom>
          <a:solidFill>
            <a:srgbClr val="05280F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6437376" y="4187951"/>
            <a:ext cx="12618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7B500"/>
                </a:solidFill>
              </a:rPr>
              <a:t>YES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7772400" y="4169663"/>
            <a:ext cx="1243584" cy="402336"/>
          </a:xfrm>
          <a:prstGeom prst="rect">
            <a:avLst/>
          </a:prstGeom>
          <a:solidFill>
            <a:srgbClr val="05280F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7808976" y="4187951"/>
            <a:ext cx="11704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7B500"/>
                </a:solidFill>
              </a:rPr>
              <a:t>YES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274320" y="4818888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A6A7A"/>
                </a:solidFill>
              </a:rPr>
              <a:t>* KAN-EBM at K=15, CelebA-64 (26.83 dB); CIFAR-10 denoising σ=0.15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8869680" y="1097280"/>
            <a:ext cx="3017520" cy="5212080"/>
          </a:xfrm>
          <a:prstGeom prst="rect">
            <a:avLst/>
          </a:prstGeom>
          <a:solidFill>
            <a:srgbClr val="162A3C"/>
          </a:solidFill>
          <a:ln w="19050">
            <a:solidFill>
              <a:srgbClr val="F7B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9006840" y="117043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7B500"/>
                </a:solidFill>
              </a:rPr>
              <a:t>Honest assessment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9052560" y="1536192"/>
            <a:ext cx="2743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74C3C"/>
                </a:solidFill>
              </a:rPr>
              <a:t>We are ~6 dB below SwinIR.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9052560" y="1837944"/>
            <a:ext cx="2743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74C3C"/>
                </a:solidFill>
              </a:rPr>
              <a:t>That is the price of 300×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9052560" y="2139696"/>
            <a:ext cx="2743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74C3C"/>
                </a:solidFill>
              </a:rPr>
              <a:t>fewer parameters.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9052560" y="2441448"/>
            <a:ext cx="2743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052560" y="2743200"/>
            <a:ext cx="2743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ECC71"/>
                </a:solidFill>
              </a:rPr>
              <a:t>We are the ONLY method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9052560" y="3044952"/>
            <a:ext cx="2743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ECC71"/>
                </a:solidFill>
              </a:rPr>
              <a:t>that: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9052560" y="3346704"/>
            <a:ext cx="2743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D0E8F2"/>
                </a:solidFill>
              </a:rPr>
              <a:t>  • Fits in 32–110 K params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9052560" y="3648456"/>
            <a:ext cx="2743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D0E8F2"/>
                </a:solidFill>
              </a:rPr>
              <a:t>  • Shows iterative PSNR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9052560" y="3950208"/>
            <a:ext cx="2743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D0E8F2"/>
                </a:solidFill>
              </a:rPr>
              <a:t>    improvement with K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9052560" y="4251960"/>
            <a:ext cx="2743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D0E8F2"/>
                </a:solidFill>
              </a:rPr>
              <a:t>  • Has a predictive K*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9052560" y="4553712"/>
            <a:ext cx="2743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D0E8F2"/>
                </a:solidFill>
              </a:rPr>
              <a:t>    law (R²=0.98)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052560" y="4855464"/>
            <a:ext cx="2743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9052560" y="5157216"/>
            <a:ext cx="2743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D0E8F2"/>
                </a:solidFill>
              </a:rPr>
              <a:t>This is a complementary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9052560" y="5458968"/>
            <a:ext cx="2743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D0E8F2"/>
                </a:solidFill>
              </a:rPr>
              <a:t>Pareto point, not a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9052560" y="5760720"/>
            <a:ext cx="2743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D0E8F2"/>
                </a:solidFill>
              </a:rPr>
              <a:t>replacement for Restormer.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9052560" y="6062472"/>
            <a:ext cx="2743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9052560" y="6364224"/>
            <a:ext cx="2743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00B4D8"/>
                </a:solidFill>
              </a:rPr>
              <a:t>NeurIPS fit: novelty in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9052560" y="6665976"/>
            <a:ext cx="2743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00B4D8"/>
                </a:solidFill>
              </a:rPr>
              <a:t>scaling law + parameter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9052560" y="6967728"/>
            <a:ext cx="2743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00B4D8"/>
                </a:solidFill>
              </a:rPr>
              <a:t>efficiency framing.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D1B2A"/>
                </a:solidFill>
              </a:rPr>
              <a:t>PhD &amp; NeurIPS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2179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0D1B2A"/>
                </a:solidFill>
              </a:rPr>
              <a:t>An honest evaluation of the work's maturity, novelty, and risk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87552"/>
            <a:ext cx="121889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97280"/>
            <a:ext cx="5394960" cy="5394960"/>
          </a:xfrm>
          <a:prstGeom prst="rect">
            <a:avLst/>
          </a:prstGeom>
          <a:solidFill>
            <a:srgbClr val="05280F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70432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CC71"/>
                </a:solidFill>
              </a:rPr>
              <a:t>Strengths (submission-ready)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72768"/>
            <a:ext cx="5074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D0E8F2"/>
                </a:solidFill>
              </a:rPr>
              <a:t>✓  K*(σ) scaling law is a novel, falsifiable contribution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920240"/>
            <a:ext cx="5074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D0E8F2"/>
                </a:solidFill>
              </a:rPr>
              <a:t>✓  R²=0.98 across 5 noise levels — not cherry-picked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267712"/>
            <a:ext cx="5074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D0E8F2"/>
                </a:solidFill>
              </a:rPr>
              <a:t>✓  Architectural invariance (param scale + spline order)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615184"/>
            <a:ext cx="5074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D0E8F2"/>
                </a:solidFill>
              </a:rPr>
              <a:t>✓  Precise domain boundary (deblur collapses, R²=0.54)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962656"/>
            <a:ext cx="5074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D0E8F2"/>
                </a:solidFill>
              </a:rPr>
              <a:t>✓  Fair baselines after fixing confounded MLP comparison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310128"/>
            <a:ext cx="5074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D0E8F2"/>
                </a:solidFill>
              </a:rPr>
              <a:t>✓  Pareto frontier framing is defensible and honest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657600"/>
            <a:ext cx="5074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D0E8F2"/>
                </a:solidFill>
              </a:rPr>
              <a:t>✓  Full experiment suite: 9 ablations + cross-validation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005072"/>
            <a:ext cx="5074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D0E8F2"/>
                </a:solidFill>
              </a:rPr>
              <a:t>✓  Limitations section is explicit and self-critical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352544"/>
            <a:ext cx="5074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D0E8F2"/>
                </a:solidFill>
              </a:rPr>
              <a:t>✓  Paper is 50-ref, NeurIPS-format, ~8 pages body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0" y="1097280"/>
            <a:ext cx="3200400" cy="5394960"/>
          </a:xfrm>
          <a:prstGeom prst="rect">
            <a:avLst/>
          </a:prstGeom>
          <a:solidFill>
            <a:srgbClr val="281005"/>
          </a:solidFill>
          <a:ln w="19050">
            <a:solidFill>
              <a:srgbClr val="F7B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80760" y="1170432"/>
            <a:ext cx="2971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7B500"/>
                </a:solidFill>
              </a:rPr>
              <a:t>Open gaps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1572768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74C3C"/>
                </a:solidFill>
              </a:rPr>
              <a:t>No theoretical derivation of α≈1.5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1892808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A6A7A"/>
                </a:solidFill>
              </a:rPr>
              <a:t>(open problem, acknowledged)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2212848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2532888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74C3C"/>
                </a:solidFill>
              </a:rPr>
              <a:t>No large-scale (ImageNet) result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0" y="2852928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A6A7A"/>
                </a:solidFill>
              </a:rPr>
              <a:t>(scoped out explicitly)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0" y="3172968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0" y="3493008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7B500"/>
                </a:solidFill>
              </a:rPr>
              <a:t>C must be re-fit per model/dataset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0" y="3813048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A6A7A"/>
                </a:solidFill>
              </a:rPr>
              <a:t>(practical limitation)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0" y="4133088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26480" y="4453128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7B500"/>
                </a:solidFill>
              </a:rPr>
              <a:t>~30× per-step FLOPs vs. MLP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0" y="4773168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A6A7A"/>
                </a:solidFill>
              </a:rPr>
              <a:t>(addressed via distillation plan)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26480" y="5093208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26480" y="5413248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74C3C"/>
                </a:solidFill>
              </a:rPr>
              <a:t>JPEG/SR-4× don't benefit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26480" y="5733288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A6A7A"/>
                </a:solidFill>
              </a:rPr>
              <a:t>(reported as limitations)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326880" y="1097280"/>
            <a:ext cx="2606040" cy="5394960"/>
          </a:xfrm>
          <a:prstGeom prst="rect">
            <a:avLst/>
          </a:prstGeom>
          <a:solidFill>
            <a:srgbClr val="162A3C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464040" y="1170432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</a:rPr>
              <a:t>Verdict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91472" y="1572768"/>
            <a:ext cx="2286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7B500"/>
                </a:solidFill>
              </a:rPr>
              <a:t>NeurIPS 2026: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91472" y="1874520"/>
            <a:ext cx="2286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ECC71"/>
                </a:solidFill>
              </a:rPr>
              <a:t>Competitive submit.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91472" y="2176272"/>
            <a:ext cx="2286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491472" y="2478024"/>
            <a:ext cx="2286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E8F2"/>
                </a:solidFill>
              </a:rPr>
              <a:t>The K* law + Pareto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491472" y="2779776"/>
            <a:ext cx="2286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E8F2"/>
                </a:solidFill>
              </a:rPr>
              <a:t>framing is novel.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491472" y="3081528"/>
            <a:ext cx="2286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E8F2"/>
                </a:solidFill>
              </a:rPr>
              <a:t>Reviewers may ask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491472" y="3383280"/>
            <a:ext cx="2286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E8F2"/>
                </a:solidFill>
              </a:rPr>
              <a:t>for theory. Have 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491472" y="3685032"/>
            <a:ext cx="2286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E8F2"/>
                </a:solidFill>
              </a:rPr>
              <a:t>prepared response.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491472" y="3986784"/>
            <a:ext cx="2286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491472" y="4288536"/>
            <a:ext cx="2286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7B500"/>
                </a:solidFill>
              </a:rPr>
              <a:t>Risk level: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91472" y="4590288"/>
            <a:ext cx="2286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7B500"/>
                </a:solidFill>
              </a:rPr>
              <a:t>Medium.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91472" y="4892040"/>
            <a:ext cx="2286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491472" y="5193792"/>
            <a:ext cx="2286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74C3C"/>
                </a:solidFill>
              </a:rPr>
              <a:t>Reject scenario: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491472" y="5495544"/>
            <a:ext cx="2286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74C3C"/>
                </a:solidFill>
              </a:rPr>
              <a:t>'Too empirical,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491472" y="5797296"/>
            <a:ext cx="2286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74C3C"/>
                </a:solidFill>
              </a:rPr>
              <a:t>PSNR too low'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491472" y="6099048"/>
            <a:ext cx="2286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491472" y="6400800"/>
            <a:ext cx="2286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B4D8"/>
                </a:solidFill>
              </a:rPr>
              <a:t>Mitigation: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491472" y="6702552"/>
            <a:ext cx="2286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E8F2"/>
                </a:solidFill>
              </a:rPr>
              <a:t>Lean into the law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491472" y="7004304"/>
            <a:ext cx="2286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E8F2"/>
                </a:solidFill>
              </a:rPr>
              <a:t>novelty; don't over-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491472" y="7306056"/>
            <a:ext cx="2286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E8F2"/>
                </a:solidFill>
              </a:rPr>
              <a:t>sell absolute PSNR.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491472" y="7607808"/>
            <a:ext cx="2286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491472" y="7909560"/>
            <a:ext cx="2286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7B500"/>
                </a:solidFill>
              </a:rPr>
              <a:t>PhD contribution: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491472" y="8211312"/>
            <a:ext cx="2286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ECC71"/>
                </a:solidFill>
              </a:rPr>
              <a:t>Solid first paper.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D1B2A"/>
                </a:solidFill>
              </a:rPr>
              <a:t>Open Problems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2179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0D1B2A"/>
                </a:solidFill>
              </a:rPr>
              <a:t>What remains before submission and the longer research roadmap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87552"/>
            <a:ext cx="121889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97280"/>
            <a:ext cx="5394960" cy="2834640"/>
          </a:xfrm>
          <a:prstGeom prst="rect">
            <a:avLst/>
          </a:prstGeom>
          <a:solidFill>
            <a:srgbClr val="162A3C"/>
          </a:solidFill>
          <a:ln w="1905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70432"/>
            <a:ext cx="5166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74C3C"/>
                </a:solidFill>
              </a:rPr>
              <a:t>Pre-submission (4–6 weeks)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36192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D0E8F2"/>
                </a:solidFill>
              </a:rPr>
              <a:t>□  Run KAN-EBM on STL-10 (3rd dataset for cross-val)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856232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D0E8F2"/>
                </a:solidFill>
              </a:rPr>
              <a:t>□  Compute LPIPS + SSIM alongside PSNR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176272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D0E8F2"/>
                </a:solidFill>
              </a:rPr>
              <a:t>□  Generate visualisations: energy landscape heatmap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496312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D0E8F2"/>
                </a:solidFill>
              </a:rPr>
              <a:t>□  Fill kaem2024 BibTeX from KAEMs.pdf (real authors)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816352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D0E8F2"/>
                </a:solidFill>
              </a:rPr>
              <a:t>□  Polish all figures (PDF format for LaTeX inclusion)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136392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D0E8F2"/>
                </a:solidFill>
              </a:rPr>
              <a:t>□  Proofread §4–§6 for consistency with new framing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456432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D0E8F2"/>
                </a:solidFill>
              </a:rPr>
              <a:t>□  Run DnCNN reproduction for fairer SOTA table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0" y="1097280"/>
            <a:ext cx="5943600" cy="2834640"/>
          </a:xfrm>
          <a:prstGeom prst="rect">
            <a:avLst/>
          </a:prstGeom>
          <a:solidFill>
            <a:srgbClr val="162A3C"/>
          </a:solidFill>
          <a:ln w="19050">
            <a:solidFill>
              <a:srgbClr val="F7B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80760" y="1170432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7B500"/>
                </a:solidFill>
              </a:rPr>
              <a:t>Theory open problems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1536192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E8F2"/>
                </a:solidFill>
              </a:rPr>
              <a:t>Derive α≈1.5 from distance-to-manifold + Langevin theory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1856232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A6A7A"/>
                </a:solidFill>
              </a:rPr>
              <a:t>  (link to Bakry-Émery condition or log-Sobolev inequality)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2176272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E8F2"/>
                </a:solidFill>
              </a:rPr>
              <a:t>Spectral predictor for non-i.i.d. corruptions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2496312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A6A7A"/>
                </a:solidFill>
              </a:rPr>
              <a:t>  (operator-norm extension for blur / SR)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2816352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E8F2"/>
                </a:solidFill>
              </a:rPr>
              <a:t>Prove C is a function of σ(dataset) and KAN capacity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3136392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A6A7A"/>
                </a:solidFill>
              </a:rPr>
              <a:t>  (characterise via covering number argument)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0" y="3456432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E8F2"/>
                </a:solidFill>
              </a:rPr>
              <a:t>Bound on K*-law generalisation across datasets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0" y="3776472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A6A7A"/>
                </a:solidFill>
              </a:rPr>
              <a:t>  (distribution shift in α)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4114800"/>
            <a:ext cx="11430000" cy="2423160"/>
          </a:xfrm>
          <a:prstGeom prst="rect">
            <a:avLst/>
          </a:prstGeom>
          <a:solidFill>
            <a:srgbClr val="162A3C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418795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</a:rPr>
              <a:t>Longer research roadmap (from FUTURE_RESEARCH_LINE.md)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553712"/>
            <a:ext cx="1600200" cy="329184"/>
          </a:xfrm>
          <a:prstGeom prst="rect">
            <a:avLst/>
          </a:prstGeom>
          <a:solidFill>
            <a:srgbClr val="00B4D8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4590288"/>
            <a:ext cx="15361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B2A"/>
                </a:solidFill>
              </a:rPr>
              <a:t>Paper 1 (this)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240280" y="4590288"/>
            <a:ext cx="9509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KAN-EBM + K* law + Pareto → NeurIPS 2026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4937760"/>
            <a:ext cx="1600200" cy="329184"/>
          </a:xfrm>
          <a:prstGeom prst="rect">
            <a:avLst/>
          </a:prstGeom>
          <a:solidFill>
            <a:srgbClr val="162A3C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4974336"/>
            <a:ext cx="15361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7B500"/>
                </a:solidFill>
              </a:rPr>
              <a:t>Paper 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974336"/>
            <a:ext cx="9509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D0E8F2"/>
                </a:solidFill>
              </a:rPr>
              <a:t>Multi-task KAN-EBM with task-conditioned energy → ICML 2027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5321808"/>
            <a:ext cx="1600200" cy="329184"/>
          </a:xfrm>
          <a:prstGeom prst="rect">
            <a:avLst/>
          </a:prstGeom>
          <a:solidFill>
            <a:srgbClr val="162A3C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" y="5358384"/>
            <a:ext cx="15361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7B500"/>
                </a:solidFill>
              </a:rPr>
              <a:t>Paper 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40280" y="5358384"/>
            <a:ext cx="9509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D0E8F2"/>
                </a:solidFill>
              </a:rPr>
              <a:t>Theoretical derivation of K*(σ) from manifold geometry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5705856"/>
            <a:ext cx="1600200" cy="329184"/>
          </a:xfrm>
          <a:prstGeom prst="rect">
            <a:avLst/>
          </a:prstGeom>
          <a:solidFill>
            <a:srgbClr val="162A3C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2920" y="5742432"/>
            <a:ext cx="15361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7B500"/>
                </a:solidFill>
              </a:rPr>
              <a:t>Paper 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742432"/>
            <a:ext cx="9509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D0E8F2"/>
                </a:solidFill>
              </a:rPr>
              <a:t>KAN-EBM for language: token energy scoring (probe)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6089904"/>
            <a:ext cx="1600200" cy="329184"/>
          </a:xfrm>
          <a:prstGeom prst="rect">
            <a:avLst/>
          </a:prstGeom>
          <a:solidFill>
            <a:srgbClr val="162A3C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2920" y="6126480"/>
            <a:ext cx="15361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7B500"/>
                </a:solidFill>
              </a:rPr>
              <a:t>Paper 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240280" y="6126480"/>
            <a:ext cx="9509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D0E8F2"/>
                </a:solidFill>
              </a:rPr>
              <a:t>Distillation: K*-step KAN student → fast feedforward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11480"/>
            <a:ext cx="10360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0B4D8"/>
                </a:solidFill>
              </a:rPr>
              <a:t>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1097280"/>
            <a:ext cx="4873752" cy="36576"/>
          </a:xfrm>
          <a:prstGeom prst="rect">
            <a:avLst/>
          </a:prstGeom>
          <a:solidFill>
            <a:srgbClr val="F7B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548640" cy="822960"/>
          </a:xfrm>
          <a:prstGeom prst="rect">
            <a:avLst/>
          </a:prstGeom>
          <a:solidFill>
            <a:srgbClr val="F7B500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325880"/>
            <a:ext cx="548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D1B2A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261872"/>
            <a:ext cx="10424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7B500"/>
                </a:solidFill>
              </a:rPr>
              <a:t>K*(σ) ≈ 86.7·σ^1.53, R²=0.98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673352"/>
            <a:ext cx="10424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D0E8F2"/>
                </a:solidFill>
              </a:rPr>
              <a:t>First empirical scaling law for optimal inference depth in EBMs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240280"/>
            <a:ext cx="548640" cy="822960"/>
          </a:xfrm>
          <a:prstGeom prst="rect">
            <a:avLst/>
          </a:prstGeom>
          <a:solidFill>
            <a:srgbClr val="2ECC71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2331720"/>
            <a:ext cx="548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D1B2A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267712"/>
            <a:ext cx="10424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ECC71"/>
                </a:solidFill>
              </a:rPr>
              <a:t>Pareto-dominant at ≤110K params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679192"/>
            <a:ext cx="10424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D0E8F2"/>
                </a:solidFill>
              </a:rPr>
              <a:t>+6.83 dB over fair MLP baseline on CelebA; 3.3× fewer params at parity PSNR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246120"/>
            <a:ext cx="548640" cy="822960"/>
          </a:xfrm>
          <a:prstGeom prst="rect">
            <a:avLst/>
          </a:prstGeom>
          <a:solidFill>
            <a:srgbClr val="00B4D8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3337560"/>
            <a:ext cx="548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D1B2A"/>
                </a:solidFill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3273552"/>
            <a:ext cx="10424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B4D8"/>
                </a:solidFill>
              </a:rPr>
              <a:t>Architectural invariance confirmed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3685032"/>
            <a:ext cx="10424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D0E8F2"/>
                </a:solidFill>
              </a:rPr>
              <a:t>α identical across 3.4× param range and spline orders p=2,3,5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251960"/>
            <a:ext cx="548640" cy="822960"/>
          </a:xfrm>
          <a:prstGeom prst="rect">
            <a:avLst/>
          </a:prstGeom>
          <a:solidFill>
            <a:srgbClr val="D0E8F2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4343400"/>
            <a:ext cx="548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D1B2A"/>
                </a:solidFill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4279392"/>
            <a:ext cx="10424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D0E8F2"/>
                </a:solidFill>
              </a:rPr>
              <a:t>Falsifiable boundary established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690872"/>
            <a:ext cx="10424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D0E8F2"/>
                </a:solidFill>
              </a:rPr>
              <a:t>Law collapses on deblurring (R²=0.54) — precise scope of validity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5257800"/>
            <a:ext cx="548640" cy="822960"/>
          </a:xfrm>
          <a:prstGeom prst="rect">
            <a:avLst/>
          </a:prstGeom>
          <a:solidFill>
            <a:srgbClr val="FFFFFF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5349240"/>
            <a:ext cx="548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D1B2A"/>
                </a:solidFill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5285232"/>
            <a:ext cx="10424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NeurIPS 2026 target: competitive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5696712"/>
            <a:ext cx="10424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D0E8F2"/>
                </a:solidFill>
              </a:rPr>
              <a:t>Novel K* law + Pareto framing; medium reject risk; paper draft v3 ready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6400800"/>
            <a:ext cx="103601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5A6A7A"/>
                </a:solidFill>
              </a:rPr>
              <a:t>Thank you  ·  Questions welcome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